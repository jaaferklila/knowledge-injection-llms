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49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13.xml.rels" ContentType="application/vnd.openxmlformats-package.relationships+xml"/>
  <Override PartName="/ppt/slides/_rels/slide50.xml.rels" ContentType="application/vnd.openxmlformats-package.relationships+xml"/>
  <Override PartName="/ppt/slides/_rels/slide45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46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29.xml.rels" ContentType="application/vnd.openxmlformats-package.relationships+xml"/>
  <Override PartName="/ppt/slides/_rels/slide11.xml.rels" ContentType="application/vnd.openxmlformats-package.relationships+xml"/>
  <Override PartName="/ppt/slides/_rels/slide48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41.xml.rels" ContentType="application/vnd.openxmlformats-package.relationships+xml"/>
  <Override PartName="/ppt/slides/_rels/slide39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39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0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49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_rels/presentation.xml.rels" ContentType="application/vnd.openxmlformats-package.relationships+xml"/>
  <Override PartName="/ppt/media/image11.gif" ContentType="image/gif"/>
  <Override PartName="/ppt/media/image5.png" ContentType="image/png"/>
  <Override PartName="/ppt/media/image14.png" ContentType="image/png"/>
  <Override PartName="/ppt/media/image13.png" ContentType="image/png"/>
  <Override PartName="/ppt/media/image4.png" ContentType="image/png"/>
  <Override PartName="/ppt/media/image19.png" ContentType="image/png"/>
  <Override PartName="/ppt/media/image2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9.png" ContentType="image/png"/>
  <Override PartName="/ppt/media/image18.png" ContentType="image/png"/>
  <Override PartName="/ppt/media/image16.png" ContentType="image/png"/>
  <Override PartName="/ppt/media/image7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15.xml" ContentType="application/vnd.openxmlformats-officedocument.presentationml.comments+xml"/>
  <Override PartName="/ppt/commentAuthors.xml" ContentType="application/vnd.openxmlformats-officedocument.presentationml.commentAuthor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</p:sldIdLst>
  <p:sldSz cx="10080625" cy="5670550"/>
  <p:notesSz cx="7559675" cy="10691813"/>
</p:presentation>
</file>

<file path=ppt/commentAuthors.xml><?xml version="1.0" encoding="utf-8"?>
<p:cmAuthorLst xmlns:p="http://schemas.openxmlformats.org/presentationml/2006/main">
  <p:cmAuthor id="0" name="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presProps" Target="presProps.xml"/><Relationship Id="rId55" Type="http://schemas.openxmlformats.org/officeDocument/2006/relationships/commentAuthors" Target="commentAuthors.xml"/>
</Relationships>
</file>

<file path=ppt/comments/comment12.xml><?xml version="1.0" encoding="utf-8"?>
<p:cmLst xmlns:p="http://schemas.openxmlformats.org/presentationml/2006/main">
  <p:cm authorId="0" dt="2025-10-30T14:08:30.000000000" idx="1">
    <p:pos x="0" y="0"/>
    <p:text>Type : cloze (phrase à trou)</p:text>
  </p:cm>
</p:cmLst>
</file>

<file path=ppt/comments/comment13.xml><?xml version="1.0" encoding="utf-8"?>
<p:cmLst xmlns:p="http://schemas.openxmlformats.org/presentationml/2006/main">
  <p:cm authorId="0" dt="2025-10-30T14:10:09.000000000" idx="2">
    <p:pos x="0" y="0"/>
    <p:text>Type : cloze (phrase à trou)</p:text>
  </p:cm>
</p:cmLst>
</file>

<file path=ppt/comments/comment15.xml><?xml version="1.0" encoding="utf-8"?>
<p:cmLst xmlns:p="http://schemas.openxmlformats.org/presentationml/2006/main">
  <p:cm authorId="0" dt="2025-10-30T14:11:38.000000000" idx="3">
    <p:pos x="0" y="0"/>
    <p:text>Type : hybride (ancien + nouveau savoir)</p:text>
  </p:cm>
</p:cmLst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AABDF5-2CB0-40C4-B3C3-75E590544D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7F2D009-D7DE-49FC-B2B2-048C9C8F1D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E09C35-5F6C-495B-89A3-6F9D587B9643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576757-5A13-4262-A253-8CA92C4F7BFF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comments" Target="../comments/commen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comments" Target="../comments/commen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comments" Target="../comments/comment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11.gif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61251833-7574-472C-96FE-22C061C08237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F6EE25E1-57BC-45D9-ACBA-A0F6F114FF8A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" name="Espace réservé du numéro de diapositive 4"/>
          <p:cNvSpPr/>
          <p:nvPr/>
        </p:nvSpPr>
        <p:spPr>
          <a:xfrm>
            <a:off x="8610840" y="635688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r" defTabSz="914400">
              <a:lnSpc>
                <a:spcPct val="100000"/>
              </a:lnSpc>
              <a:spcAft>
                <a:spcPts val="601"/>
              </a:spcAft>
            </a:pPr>
            <a:fld id="{95865962-261C-4180-9763-81DCA9FF325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ZoneTexte 11"/>
          <p:cNvSpPr/>
          <p:nvPr/>
        </p:nvSpPr>
        <p:spPr>
          <a:xfrm>
            <a:off x="6504480" y="4191120"/>
            <a:ext cx="321516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fr-FR" sz="2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Présenté</a:t>
            </a:r>
            <a:r>
              <a:rPr b="0" lang="fr-FR" sz="2000" spc="100" strike="noStrike">
                <a:solidFill>
                  <a:schemeClr val="dk1"/>
                </a:solidFill>
                <a:latin typeface="Times New Roman"/>
                <a:ea typeface="Times New Roman"/>
              </a:rPr>
              <a:t> </a:t>
            </a:r>
            <a:r>
              <a:rPr b="0" lang="fr-FR" sz="2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par : </a:t>
            </a:r>
            <a:r>
              <a:rPr b="0" lang="fr-FR" sz="2000" spc="-1" strike="noStrike">
                <a:solidFill>
                  <a:schemeClr val="dk1"/>
                </a:solidFill>
                <a:latin typeface="Times New Roman"/>
                <a:ea typeface="Arial"/>
              </a:rPr>
              <a:t>Jaafer KLILA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fr-FR" sz="1800" spc="106" strike="noStrike">
                <a:solidFill>
                  <a:schemeClr val="dk1"/>
                </a:solidFill>
                <a:latin typeface="Times New Roman"/>
                <a:ea typeface="Times New Roman"/>
              </a:rPr>
              <a:t>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" name="Image 13" descr=""/>
          <p:cNvPicPr/>
          <p:nvPr/>
        </p:nvPicPr>
        <p:blipFill>
          <a:blip r:embed="rId1"/>
          <a:stretch/>
        </p:blipFill>
        <p:spPr>
          <a:xfrm>
            <a:off x="158760" y="360000"/>
            <a:ext cx="2540880" cy="747000"/>
          </a:xfrm>
          <a:prstGeom prst="rect">
            <a:avLst/>
          </a:prstGeom>
          <a:ln w="0">
            <a:noFill/>
          </a:ln>
        </p:spPr>
      </p:pic>
      <p:pic>
        <p:nvPicPr>
          <p:cNvPr id="21" name="Image 14" descr=""/>
          <p:cNvPicPr/>
          <p:nvPr/>
        </p:nvPicPr>
        <p:blipFill>
          <a:blip r:embed="rId2"/>
          <a:stretch/>
        </p:blipFill>
        <p:spPr>
          <a:xfrm>
            <a:off x="7557480" y="243360"/>
            <a:ext cx="2342160" cy="476280"/>
          </a:xfrm>
          <a:prstGeom prst="rect">
            <a:avLst/>
          </a:prstGeom>
          <a:ln w="0">
            <a:noFill/>
          </a:ln>
        </p:spPr>
      </p:pic>
      <p:sp>
        <p:nvSpPr>
          <p:cNvPr id="22" name="ZoneTexte 15"/>
          <p:cNvSpPr/>
          <p:nvPr/>
        </p:nvSpPr>
        <p:spPr>
          <a:xfrm>
            <a:off x="2001240" y="635400"/>
            <a:ext cx="609840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  <a:ea typeface="Arial"/>
              </a:rPr>
              <a:t>Ministère de l'Enseignement supérieur et de la Recherche scientifique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  <a:ea typeface="Arial"/>
              </a:rPr>
              <a:t>****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  <a:ea typeface="Arial"/>
              </a:rPr>
              <a:t>Université de Sfax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  <a:ea typeface="Arial"/>
              </a:rPr>
              <a:t>****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  <a:ea typeface="Arial"/>
              </a:rPr>
              <a:t>Université Paris-Saclay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Rectangle : coins arrondis 12"/>
          <p:cNvSpPr/>
          <p:nvPr/>
        </p:nvSpPr>
        <p:spPr>
          <a:xfrm>
            <a:off x="900000" y="2700000"/>
            <a:ext cx="8459640" cy="116856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12600">
            <a:solidFill>
              <a:srgbClr val="18a30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658440">
              <a:lnSpc>
                <a:spcPct val="100000"/>
              </a:lnSpc>
            </a:pPr>
            <a:r>
              <a:rPr b="1" lang="fr-FR" sz="2000" spc="-1" strike="noStrike">
                <a:solidFill>
                  <a:schemeClr val="lt1"/>
                </a:solidFill>
                <a:latin typeface="Times New Roma"/>
                <a:ea typeface="Arial"/>
              </a:rPr>
              <a:t>  </a:t>
            </a:r>
            <a:r>
              <a:rPr b="1" lang="fr-FR" sz="2000" spc="-1" strike="noStrike">
                <a:solidFill>
                  <a:schemeClr val="lt1"/>
                </a:solidFill>
                <a:latin typeface="Times New Roma"/>
                <a:ea typeface="Arial"/>
              </a:rPr>
              <a:t>Knowledge Injection into  Language Models 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5" name=""/>
          <p:cNvSpPr/>
          <p:nvPr/>
        </p:nvSpPr>
        <p:spPr>
          <a:xfrm>
            <a:off x="7652160" y="3240000"/>
            <a:ext cx="15274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Xu et al,2025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7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22DF35A8-4309-4126-84E5-531B3497CA89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0E0AA1F7-EDD2-4228-8DAA-9ED5DD6CE977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1440000" y="1620000"/>
            <a:ext cx="7739640" cy="1259640"/>
          </a:xfrm>
          <a:prstGeom prst="rect">
            <a:avLst/>
          </a:prstGeom>
          <a:solidFill>
            <a:srgbClr val="0070c0"/>
          </a:solidFill>
          <a:ln w="12600">
            <a:solidFill>
              <a:srgbClr val="18a30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 defTabSz="6584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fr-FR" sz="1800" spc="-1" strike="noStrike">
                <a:solidFill>
                  <a:srgbClr val="fffff0"/>
                </a:solidFill>
                <a:latin typeface="Cambria"/>
                <a:ea typeface="Arial"/>
              </a:rPr>
              <a:t>Memorizing is Not Enough: Deep Knowledge Injection 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6584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fr-FR" sz="1800" spc="-1" strike="noStrike">
                <a:solidFill>
                  <a:srgbClr val="fffff0"/>
                </a:solidFill>
                <a:latin typeface="Cambria"/>
                <a:ea typeface="Arial"/>
              </a:rPr>
              <a:t>Through Reasoning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" name=""/>
          <p:cNvSpPr/>
          <p:nvPr/>
        </p:nvSpPr>
        <p:spPr>
          <a:xfrm>
            <a:off x="176400" y="837720"/>
            <a:ext cx="972324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Les grands modèles de langage (LLMs), comme GPT ou LLaMA, sont très forts pour rappeler des connaissances et raisonner sur des faits déjà appris.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0" y="308160"/>
            <a:ext cx="276480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1400" spc="-1" strike="noStrike">
                <a:solidFill>
                  <a:srgbClr val="000000"/>
                </a:solidFill>
                <a:latin typeface="Arial"/>
              </a:rPr>
              <a:t>Idée générale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257040" y="1440000"/>
            <a:ext cx="406260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Mais ils ont un gros problème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180360" y="2108160"/>
            <a:ext cx="917964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Ils sont statiques : une fois entraînés, ils ne connaissent pas les nouvelles informations.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180360" y="2700000"/>
            <a:ext cx="899964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Ils ont du mal à s’adapter à un domaine spécifique (comme la médecine, le droit, etc.) sans être réentraînés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900360" y="3420000"/>
            <a:ext cx="8819280" cy="719640"/>
          </a:xfrm>
          <a:prstGeom prst="roundRect">
            <a:avLst>
              <a:gd name="adj" fmla="val 16667"/>
            </a:avLst>
          </a:prstGeom>
          <a:solidFill>
            <a:srgbClr val="ff69b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DejaVu Sans"/>
              </a:rPr>
              <a:t>Donc, il faut des méthodes d’injection de connaissances pour leur “apprendre” des choses nouvelles ou mises à jour.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180000" y="3420000"/>
            <a:ext cx="359640" cy="53964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8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9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2D7F8BFE-3E78-4FCA-8852-3C72424563A0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E4EC17B2-55D4-4DE6-BFA1-34B0B502B820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-44280" y="-8640"/>
            <a:ext cx="16196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fffff0"/>
                </a:solidFill>
                <a:latin typeface="Arial"/>
              </a:rPr>
              <a:t> </a:t>
            </a:r>
            <a:r>
              <a:rPr b="1" lang="fr-FR" sz="1000" spc="-1" strike="noStrike">
                <a:solidFill>
                  <a:srgbClr val="fffff0"/>
                </a:solidFill>
                <a:latin typeface="Arial"/>
              </a:rPr>
              <a:t>Idée générale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3" name=""/>
          <p:cNvSpPr/>
          <p:nvPr/>
        </p:nvSpPr>
        <p:spPr>
          <a:xfrm>
            <a:off x="0" y="360000"/>
            <a:ext cx="853776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1400" spc="-1" strike="noStrike">
                <a:solidFill>
                  <a:srgbClr val="000000"/>
                </a:solidFill>
                <a:latin typeface="Arial"/>
              </a:rPr>
              <a:t>Problème actuel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80280" y="2278080"/>
            <a:ext cx="1017936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spcBef>
                <a:spcPts val="3685"/>
              </a:spcBef>
              <a:spcAft>
                <a:spcPts val="3402"/>
              </a:spcAft>
              <a:buClr>
                <a:srgbClr val="000000"/>
              </a:buClr>
              <a:buSzPct val="45000"/>
              <a:buFont typeface="Wingdings" charset="2"/>
              <a:buChar char=""/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Récupération (retrieval) :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 on fait appel à des documents externes via un système RAG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80000" y="1453680"/>
            <a:ext cx="80578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"/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Mémorisation 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: on rajoute des faits directement dans le modèle (fine-tuning).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180000" y="720000"/>
            <a:ext cx="696528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La plupart des recherches actuelles sur “l’injection de connaissance” se limitent à  deux approches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8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5FA8E336-43BC-4D27-BF58-9CD21D88CE1A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3520A606-292E-4A10-922D-A87241CA3E2F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-44280" y="-8280"/>
            <a:ext cx="16196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fffff0"/>
                </a:solidFill>
                <a:latin typeface="Arial"/>
              </a:rPr>
              <a:t> </a:t>
            </a:r>
            <a:r>
              <a:rPr b="1" lang="fr-FR" sz="1000" spc="-1" strike="noStrike">
                <a:solidFill>
                  <a:srgbClr val="fffff0"/>
                </a:solidFill>
                <a:latin typeface="Arial"/>
              </a:rPr>
              <a:t>Idée générale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6120000" y="360360"/>
            <a:ext cx="3628440" cy="4139640"/>
          </a:xfrm>
          <a:prstGeom prst="rect">
            <a:avLst/>
          </a:prstGeom>
          <a:ln w="0">
            <a:noFill/>
          </a:ln>
        </p:spPr>
      </p:pic>
      <p:sp>
        <p:nvSpPr>
          <p:cNvPr id="53" name=""/>
          <p:cNvSpPr/>
          <p:nvPr/>
        </p:nvSpPr>
        <p:spPr>
          <a:xfrm>
            <a:off x="0" y="610560"/>
            <a:ext cx="6659640" cy="5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Les auteurs proposent une hiérarchie à quatre niveaux de profondeur d’injection de connaissance 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180000" y="1273680"/>
            <a:ext cx="3779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1e90ff"/>
                </a:solidFill>
                <a:latin typeface="Arial"/>
              </a:rPr>
              <a:t>1️⃣ Knowledge Memorization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106920" y="2160000"/>
            <a:ext cx="421272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Injection : Mercy’s spouse is Mark.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0" y="278640"/>
            <a:ext cx="381960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Contribution du papier : le cadre à quatre niveaux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180000" y="2797920"/>
            <a:ext cx="5399640" cy="18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Ce que le modèle apprend 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Il mémorise un fait brut : Mercy est mariée à Mark.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S’il reçoit la question “Who is Mercy’s spouse?”,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il peut répondre “Mark”.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80000" y="1620000"/>
            <a:ext cx="1799280" cy="359640"/>
          </a:xfrm>
          <a:prstGeom prst="roundRect">
            <a:avLst>
              <a:gd name="adj" fmla="val 16667"/>
            </a:avLst>
          </a:prstGeom>
          <a:solidFill>
            <a:srgbClr val="dc143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fr-FR" sz="1800" spc="-1" strike="noStrike">
                <a:solidFill>
                  <a:srgbClr val="ffffff"/>
                </a:solidFill>
                <a:latin typeface="Arial"/>
                <a:ea typeface="DejaVu Sans"/>
              </a:rPr>
              <a:t>Exemple :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0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BACC0583-9569-4431-AD0F-E0356700C94C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EF57EF6C-61DF-45C6-8028-68FC15C94FD3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-44280" y="-8280"/>
            <a:ext cx="310392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fffff0"/>
                </a:solidFill>
                <a:latin typeface="Arial"/>
              </a:rPr>
              <a:t>Knowledge Memorization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6120000" y="381240"/>
            <a:ext cx="3628440" cy="413964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80000" y="373680"/>
            <a:ext cx="3419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fr-FR" sz="1200" spc="-1" strike="noStrike">
                <a:solidFill>
                  <a:srgbClr val="32cd32"/>
                </a:solidFill>
                <a:latin typeface="Arial"/>
              </a:rPr>
              <a:t>2️⃣ Knowledge Retrieval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180000" y="2173320"/>
            <a:ext cx="37357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Question : “Who did Mercy marry?”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180000" y="900000"/>
            <a:ext cx="503964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Injection : Le modèle va chercher dans sa mémoire ou dans une base externe (RAG)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94680" y="2880000"/>
            <a:ext cx="5664960" cy="85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le modèle retrouve la connaissance injectée (Mark),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même si la formulation de la question change.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180720" y="1800000"/>
            <a:ext cx="1799280" cy="359640"/>
          </a:xfrm>
          <a:prstGeom prst="roundRect">
            <a:avLst>
              <a:gd name="adj" fmla="val 16667"/>
            </a:avLst>
          </a:prstGeom>
          <a:solidFill>
            <a:srgbClr val="dc143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fr-FR" sz="1800" spc="-1" strike="noStrike">
                <a:solidFill>
                  <a:srgbClr val="ffffff"/>
                </a:solidFill>
                <a:latin typeface="Arial"/>
                <a:ea typeface="DejaVu Sans"/>
              </a:rPr>
              <a:t>Exemple :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1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F42D59AB-B6F8-4D76-B098-B438AAF29D90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1A156324-75F4-451A-96E8-43DC250A4A19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-88200" y="-36720"/>
            <a:ext cx="19544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32cd32"/>
                </a:solidFill>
                <a:latin typeface="Arial"/>
              </a:rPr>
              <a:t> </a:t>
            </a:r>
            <a:r>
              <a:rPr b="1" lang="fr-FR" sz="1000" spc="-1" strike="noStrike">
                <a:solidFill>
                  <a:srgbClr val="fffff0"/>
                </a:solidFill>
                <a:latin typeface="Arial"/>
              </a:rPr>
              <a:t>Knowledge Retrieval 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75" name="" descr=""/>
          <p:cNvPicPr/>
          <p:nvPr/>
        </p:nvPicPr>
        <p:blipFill>
          <a:blip r:embed="rId1"/>
          <a:stretch/>
        </p:blipFill>
        <p:spPr>
          <a:xfrm>
            <a:off x="6120000" y="360000"/>
            <a:ext cx="3628440" cy="4139640"/>
          </a:xfrm>
          <a:prstGeom prst="rect">
            <a:avLst/>
          </a:prstGeom>
          <a:ln w="0">
            <a:noFill/>
          </a:ln>
        </p:spPr>
      </p:pic>
      <p:sp>
        <p:nvSpPr>
          <p:cNvPr id="76" name=""/>
          <p:cNvSpPr/>
          <p:nvPr/>
        </p:nvSpPr>
        <p:spPr>
          <a:xfrm>
            <a:off x="360000" y="3600000"/>
            <a:ext cx="5393520" cy="8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Mercy → spouse → Mark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Mark → date of birth → 1960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86040" y="373680"/>
            <a:ext cx="33336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ff0000"/>
                </a:solidFill>
                <a:latin typeface="Arial"/>
              </a:rPr>
              <a:t>3️⃣ Knowledge Reasoning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214560" y="913320"/>
            <a:ext cx="518508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Le modèle combine plusieurs faits injectés pour raisonner 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199080" y="3073320"/>
            <a:ext cx="52005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800" spc="-1" strike="noStrike">
                <a:solidFill>
                  <a:srgbClr val="000000"/>
                </a:solidFill>
                <a:latin typeface="Arial"/>
              </a:rPr>
              <a:t>Question : When was Mercy’s spouse born?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202320" y="2160000"/>
            <a:ext cx="483732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Injection : Mercy’s spouse is Mark.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Mark’s date of birth is 1960/06/19.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360000" y="4680000"/>
            <a:ext cx="52430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✅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Il déduit que la bonne réponse est 1960/06/19.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80000" y="1620720"/>
            <a:ext cx="1799280" cy="359640"/>
          </a:xfrm>
          <a:prstGeom prst="roundRect">
            <a:avLst>
              <a:gd name="adj" fmla="val 16667"/>
            </a:avLst>
          </a:prstGeom>
          <a:solidFill>
            <a:srgbClr val="dc143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fr-FR" sz="1800" spc="-1" strike="noStrike">
                <a:solidFill>
                  <a:srgbClr val="ffffff"/>
                </a:solidFill>
                <a:latin typeface="Arial"/>
                <a:ea typeface="DejaVu Sans"/>
              </a:rPr>
              <a:t>Exemple :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4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0BE3C84D-D8AE-4868-B62C-1DABC2B5BCD0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69EE11DF-CEE2-41A6-8AB5-966AA4199B7A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-14400" y="0"/>
            <a:ext cx="181404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fffff0"/>
                </a:solidFill>
                <a:latin typeface="Arial"/>
              </a:rPr>
              <a:t>Knowledge Reasoning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6120000" y="401400"/>
            <a:ext cx="3628440" cy="41396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180000" y="4001400"/>
            <a:ext cx="5219640" cy="10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→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Trump est né avant Mark, donc Trump est plus âgé.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0" y="360000"/>
            <a:ext cx="38836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800" spc="-1" strike="noStrike">
                <a:solidFill>
                  <a:srgbClr val="ffa500"/>
                </a:solidFill>
                <a:latin typeface="Arial"/>
                <a:ea typeface="Noto Sans CJK SC"/>
              </a:rPr>
              <a:t>4️⃣Knowledge Association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244440" y="3433680"/>
            <a:ext cx="44352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Question : Who is older, Mark or Trump?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180000" y="2520000"/>
            <a:ext cx="557964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Injection : Trump’s date of birth is 1946/06/14.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Mark’s date of birth is 1960/06/19.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360720" y="1980000"/>
            <a:ext cx="1799280" cy="359640"/>
          </a:xfrm>
          <a:prstGeom prst="roundRect">
            <a:avLst>
              <a:gd name="adj" fmla="val 16667"/>
            </a:avLst>
          </a:prstGeom>
          <a:solidFill>
            <a:srgbClr val="dc143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fr-FR" sz="1800" spc="-1" strike="noStrike">
                <a:solidFill>
                  <a:srgbClr val="ffffff"/>
                </a:solidFill>
                <a:latin typeface="Arial"/>
                <a:ea typeface="DejaVu Sans"/>
              </a:rPr>
              <a:t>Exemple :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360000" y="900000"/>
            <a:ext cx="5399640" cy="11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Le modèle associe plusieurs morceaux de connaissance indépendants, qu’il a appris séparément pour produire une nouvelle conclusion.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6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1AC7CE0D-5DBE-4772-859F-89E0F24D4E35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9F166F83-4F6B-4041-A9BB-2D63D2087215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0" y="0"/>
            <a:ext cx="30348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fffff0"/>
                </a:solidFill>
                <a:latin typeface="Arial"/>
              </a:rPr>
              <a:t>Knowledge Association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Objectifs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6120000" y="360000"/>
            <a:ext cx="3628440" cy="413964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0" y="311760"/>
            <a:ext cx="12974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Objectifs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0" y="658080"/>
            <a:ext cx="901944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Évaluer la capacité des LLMs à utiliser les connaissances injectées à différents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niveaux (mémorisation → association).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180000" y="1274040"/>
            <a:ext cx="3915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Distinguer 3 types de connaissance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180000" y="1689840"/>
            <a:ext cx="593964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000000"/>
                </a:solidFill>
                <a:latin typeface="Arial"/>
              </a:rPr>
              <a:t>Novel</a:t>
            </a: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 : une information que le modèle ne connaissait pas.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06760" y="2055960"/>
            <a:ext cx="261288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→ </a:t>
            </a: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ex : une découverte scientifique récente.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180000" y="2648160"/>
            <a:ext cx="531216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000000"/>
                </a:solidFill>
                <a:latin typeface="Arial"/>
              </a:rPr>
              <a:t>Incremental</a:t>
            </a: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 : une extension d’une connaissance existante.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720000" y="3008160"/>
            <a:ext cx="325116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→ </a:t>
            </a: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ex : le COVID-19 a désormais un nouveau variant X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540000" y="3600000"/>
            <a:ext cx="514260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→ </a:t>
            </a: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ex : le président actuel des États-Unis n’est plus Donald Trump mais… (dans le futur).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212040" y="3368160"/>
            <a:ext cx="458604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000000"/>
                </a:solidFill>
                <a:latin typeface="Arial"/>
              </a:rPr>
              <a:t>Updated</a:t>
            </a: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 : une correction d’une information obsolète.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1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07D42C4D-490A-4E01-ADFF-7909C6A14029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547E1BE5-81CC-410E-8720-0CFE1116DC95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4" name=""/>
          <p:cNvSpPr/>
          <p:nvPr/>
        </p:nvSpPr>
        <p:spPr>
          <a:xfrm>
            <a:off x="360000" y="360000"/>
            <a:ext cx="593964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Construction du corpus DeepKnowledge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180000" y="360000"/>
            <a:ext cx="179640" cy="289800"/>
          </a:xfrm>
          <a:prstGeom prst="ca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6" name=""/>
          <p:cNvSpPr/>
          <p:nvPr/>
        </p:nvSpPr>
        <p:spPr>
          <a:xfrm>
            <a:off x="320040" y="723600"/>
            <a:ext cx="957960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DeepKnowledge est un corpus synthétique créé spécialement pour tester l’injection de connaissance dans les LLMs.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les auteurs l’ont fabriqué à partir de deux corpus réels + génération automatique avec LLMs.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80000" y="1260000"/>
            <a:ext cx="75596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c9211e"/>
                </a:solidFill>
                <a:latin typeface="Arial"/>
              </a:rPr>
              <a:t>Le corpus DeepKnowledge se construit en deux grandes étapes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188640" y="2304720"/>
            <a:ext cx="3651120" cy="34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Nettoyage et filtrage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188640" y="2700000"/>
            <a:ext cx="624960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Les auteurs ne gardent que les faits les plus propres et les plus utiles.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Ils appliquent 3 règles de filtrage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0" name=""/>
          <p:cNvGraphicFramePr/>
          <p:nvPr/>
        </p:nvGraphicFramePr>
        <p:xfrm>
          <a:off x="193320" y="3443040"/>
          <a:ext cx="8830440" cy="1281240"/>
        </p:xfrm>
        <a:graphic>
          <a:graphicData uri="http://schemas.openxmlformats.org/drawingml/2006/table">
            <a:tbl>
              <a:tblPr/>
              <a:tblGrid>
                <a:gridCol w="1443600"/>
                <a:gridCol w="3151440"/>
                <a:gridCol w="4235760"/>
              </a:tblGrid>
              <a:tr h="26856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Règle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But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Exemple supprimé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5604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1. Unicité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Un seul objet par paire (sujet, relation).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(“John”, “spouse”, “Mary”) et (“John”, “spouse”, “Anna”) → supprimé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2. Non-récursif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Sujet ≠ Objet.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(“Paris”, “sameAs”, “Paris”) → supprimé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3. Multi-step reasoning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Le fait doit pouvoir être combiné à d’autres.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(“John”, “height”, “180cm”) seul → inutile s’il n’a pas d’autre lien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1" name=""/>
          <p:cNvSpPr/>
          <p:nvPr/>
        </p:nvSpPr>
        <p:spPr>
          <a:xfrm>
            <a:off x="8820360" y="720360"/>
            <a:ext cx="359640" cy="359640"/>
          </a:xfrm>
          <a:prstGeom prst="ca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2" name=""/>
          <p:cNvSpPr/>
          <p:nvPr/>
        </p:nvSpPr>
        <p:spPr>
          <a:xfrm>
            <a:off x="8344800" y="1207800"/>
            <a:ext cx="155484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WikiFactDiff et MQuAKE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7920000" y="2340000"/>
            <a:ext cx="201816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(Sujet, Relation, Objet)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9000000" y="1568160"/>
            <a:ext cx="179640" cy="17964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5" name=""/>
          <p:cNvSpPr/>
          <p:nvPr/>
        </p:nvSpPr>
        <p:spPr>
          <a:xfrm>
            <a:off x="8100000" y="1747800"/>
            <a:ext cx="183240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fournit des faits sous la forme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4188960" y="4987800"/>
            <a:ext cx="607068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exemple → (“Mercy”, “spouse”, “Mark”) + (“Mark”, “birth_year”, “1960”) = permet une question à 2 étapes.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 flipV="1">
            <a:off x="7020000" y="4140000"/>
            <a:ext cx="360" cy="540000"/>
          </a:xfrm>
          <a:prstGeom prst="line">
            <a:avLst/>
          </a:prstGeom>
          <a:ln w="0">
            <a:solidFill>
              <a:srgbClr val="3465a4"/>
            </a:solidFill>
            <a:headEnd len="med" type="triangle" w="med"/>
            <a:tailEnd len="med" type="diamond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8" name=""/>
          <p:cNvSpPr/>
          <p:nvPr/>
        </p:nvSpPr>
        <p:spPr>
          <a:xfrm>
            <a:off x="5478120" y="4680000"/>
            <a:ext cx="280152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Pour construire des chaînes de raisonnement :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135720" y="4851000"/>
            <a:ext cx="413964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Sélection des 16 groupes de relations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0" y="2340000"/>
            <a:ext cx="179640" cy="179640"/>
          </a:xfrm>
          <a:prstGeom prst="flowChartOr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1" name=""/>
          <p:cNvSpPr/>
          <p:nvPr/>
        </p:nvSpPr>
        <p:spPr>
          <a:xfrm>
            <a:off x="0" y="4860000"/>
            <a:ext cx="179640" cy="179640"/>
          </a:xfrm>
          <a:prstGeom prst="flowChartOr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2" name=""/>
          <p:cNvSpPr/>
          <p:nvPr/>
        </p:nvSpPr>
        <p:spPr>
          <a:xfrm>
            <a:off x="0" y="1620000"/>
            <a:ext cx="66596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    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Construire une base de faits fiables. à partir de WikiFactDiff et MQuAKE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4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A955A4D5-D9D6-4EA4-88C0-7221D4551B14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64D32599-7156-408C-A2BF-4DEA55A47FEA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0" y="0"/>
            <a:ext cx="294948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fffff0"/>
                </a:solidFill>
                <a:latin typeface="Arial"/>
              </a:rPr>
              <a:t>Construction du corpus DeepKnowledge 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8" name=""/>
          <p:cNvSpPr/>
          <p:nvPr/>
        </p:nvSpPr>
        <p:spPr>
          <a:xfrm>
            <a:off x="180000" y="360000"/>
            <a:ext cx="179640" cy="179640"/>
          </a:xfrm>
          <a:prstGeom prst="flowChartOr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9" name=""/>
          <p:cNvSpPr/>
          <p:nvPr/>
        </p:nvSpPr>
        <p:spPr>
          <a:xfrm>
            <a:off x="451800" y="360000"/>
            <a:ext cx="512784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Identification des connaissances préexistantes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264960" y="755280"/>
            <a:ext cx="9454680" cy="154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ils testent le modèle (LLM) sur ces faits avec un prompt “3-shot”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s’il répond correctement → le fait est considéré comme connaissance préexistante du modèle 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sinon, il sera utilisé comme nouvelle connaissance à injecter.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✅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Résultat final : 26 477 faits valides et fiables (issus de WikiFactDiff et MQuAKE).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180000" y="2303640"/>
            <a:ext cx="5671800" cy="4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Génération de connaissances synthétiques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471240" y="2700000"/>
            <a:ext cx="72684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But : ajouter de nouvelles connaissances que le modèle ne connaît pas.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180000" y="3066480"/>
            <a:ext cx="9359640" cy="90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Principe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Ils veulent créer de nouvelles données artificielles (synthetic data)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qui ressemblent statistiquement aux vraies (mêmes structures de relations), mais qui ne concernent aucun fait réel existant.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298080" y="4320000"/>
            <a:ext cx="4741560" cy="12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ls utilisent un LLM génératif (ex. GPT-4) pour produire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de noms d’entités fictives et de relations identiques à celles du corpus réel.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6618240" y="4320000"/>
            <a:ext cx="3461400" cy="68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Ils génèrent 109 860 faits synthétiques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5040360" y="4320000"/>
            <a:ext cx="1439640" cy="53964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7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8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E25136D5-76AB-450A-A2C3-3CE729D2027D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A09F4613-726B-4932-9BC6-160B4A37517F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0" y="0"/>
            <a:ext cx="294948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fffff0"/>
                </a:solidFill>
                <a:latin typeface="Arial"/>
              </a:rPr>
              <a:t>Construction du corpus DeepKnowledge 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2" name=""/>
          <p:cNvSpPr/>
          <p:nvPr/>
        </p:nvSpPr>
        <p:spPr>
          <a:xfrm>
            <a:off x="132840" y="360000"/>
            <a:ext cx="4906800" cy="4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000000"/>
                </a:solidFill>
                <a:latin typeface="Arial"/>
              </a:rPr>
              <a:t>Génération des cas de test (questions)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112680" y="935280"/>
            <a:ext cx="4386960" cy="17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À partir des deux ensembles de faits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(1) préexistants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(2) synthétiques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Ils créent différents types de questions selon le niveau d’injection.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4" name="" descr=""/>
          <p:cNvPicPr/>
          <p:nvPr/>
        </p:nvPicPr>
        <p:blipFill>
          <a:blip r:embed="rId1"/>
          <a:stretch/>
        </p:blipFill>
        <p:spPr>
          <a:xfrm>
            <a:off x="6300000" y="180000"/>
            <a:ext cx="3628440" cy="4139640"/>
          </a:xfrm>
          <a:prstGeom prst="rect">
            <a:avLst/>
          </a:prstGeom>
          <a:ln w="0">
            <a:noFill/>
          </a:ln>
        </p:spPr>
      </p:pic>
      <p:sp>
        <p:nvSpPr>
          <p:cNvPr id="155" name=""/>
          <p:cNvSpPr/>
          <p:nvPr/>
        </p:nvSpPr>
        <p:spPr>
          <a:xfrm>
            <a:off x="270720" y="2497680"/>
            <a:ext cx="4228920" cy="23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🔹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Niveau 1 : Memorization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Objectif : tester si le modèle se souvient d’un fait injecté.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🧾 </a:t>
            </a: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xemple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Fait : (Mercy, spouse, Mark)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Question : “Mercy’s spouse is ___?”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Réponse : “Mark”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7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45479EFB-D57E-40BE-863B-2EDB285563F3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7D0F7775-B44E-41D2-876D-A877A7F08660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0" y="0"/>
            <a:ext cx="294948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fffff0"/>
                </a:solidFill>
                <a:latin typeface="Arial"/>
              </a:rPr>
              <a:t>Construction du corpus DeepKnowledge 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1" name=""/>
          <p:cNvSpPr/>
          <p:nvPr/>
        </p:nvSpPr>
        <p:spPr>
          <a:xfrm>
            <a:off x="132840" y="360000"/>
            <a:ext cx="4906800" cy="4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Génération des cas de test (questions)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6300000" y="180000"/>
            <a:ext cx="3628440" cy="4139640"/>
          </a:xfrm>
          <a:prstGeom prst="rect">
            <a:avLst/>
          </a:prstGeom>
          <a:ln w="0">
            <a:noFill/>
          </a:ln>
        </p:spPr>
      </p:pic>
      <p:sp>
        <p:nvSpPr>
          <p:cNvPr id="163" name=""/>
          <p:cNvSpPr/>
          <p:nvPr/>
        </p:nvSpPr>
        <p:spPr>
          <a:xfrm>
            <a:off x="189000" y="1260000"/>
            <a:ext cx="5030640" cy="342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Niveau 2 : Retrieval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Objectif : tester si le modèle retrouve le fait même si la phrase change.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🧾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Exemple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Fait : (Mercy, spouse, Mark)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Reformulations générées par LLM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“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Who did Mercy marry?”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“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What’s the name of Mercy’s husband?”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Réponse : “Mark”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10 reformulations sont créées par fait.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5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37788B1B-BA47-4FC6-94C8-7C0738A5AEB4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BC111CC1-0D88-4CB1-A214-CF4A5B5137A4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0" y="0"/>
            <a:ext cx="294948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fffff0"/>
                </a:solidFill>
                <a:latin typeface="Arial"/>
              </a:rPr>
              <a:t>Construction du corpus DeepKnowledge 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9" name=""/>
          <p:cNvSpPr/>
          <p:nvPr/>
        </p:nvSpPr>
        <p:spPr>
          <a:xfrm>
            <a:off x="132840" y="360000"/>
            <a:ext cx="4906800" cy="4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Génération des cas de test (questions)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0" name="" descr=""/>
          <p:cNvPicPr/>
          <p:nvPr/>
        </p:nvPicPr>
        <p:blipFill>
          <a:blip r:embed="rId1"/>
          <a:stretch/>
        </p:blipFill>
        <p:spPr>
          <a:xfrm>
            <a:off x="6300000" y="180000"/>
            <a:ext cx="3628440" cy="4139640"/>
          </a:xfrm>
          <a:prstGeom prst="rect">
            <a:avLst/>
          </a:prstGeom>
          <a:ln w="0">
            <a:noFill/>
          </a:ln>
        </p:spPr>
      </p:pic>
      <p:sp>
        <p:nvSpPr>
          <p:cNvPr id="171" name=""/>
          <p:cNvSpPr/>
          <p:nvPr/>
        </p:nvSpPr>
        <p:spPr>
          <a:xfrm>
            <a:off x="180000" y="1080000"/>
            <a:ext cx="5399640" cy="39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Niveau 3 : Reasoning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ype : multi-hop reasoning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Objectif : tester la capacité du modèle à combiner plusieurs faits.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🧾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Exemple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Faits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(Mercy, spouse, Mark)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(Mark, date_of_birth, 1960/06/19)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(Trump, date_of_birth, 1946/06/14)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Question générée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“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Who is older, Mercy’s spouse or Trump?”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Réponse : “Trump”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3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EF08DC9D-5673-4151-9509-2C05513F32FE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8E8DEED5-916B-4B88-A849-DAB59E64C4D3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0" y="0"/>
            <a:ext cx="294948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fffff0"/>
                </a:solidFill>
                <a:latin typeface="Arial"/>
              </a:rPr>
              <a:t>Construction du corpus DeepKnowledge 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7" name=""/>
          <p:cNvSpPr/>
          <p:nvPr/>
        </p:nvSpPr>
        <p:spPr>
          <a:xfrm>
            <a:off x="132840" y="360000"/>
            <a:ext cx="4906800" cy="4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Génération des cas de test (questions)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" name="" descr=""/>
          <p:cNvPicPr/>
          <p:nvPr/>
        </p:nvPicPr>
        <p:blipFill>
          <a:blip r:embed="rId1"/>
          <a:stretch/>
        </p:blipFill>
        <p:spPr>
          <a:xfrm>
            <a:off x="6300000" y="180000"/>
            <a:ext cx="3628440" cy="4139640"/>
          </a:xfrm>
          <a:prstGeom prst="rect">
            <a:avLst/>
          </a:prstGeom>
          <a:ln w="0">
            <a:noFill/>
          </a:ln>
        </p:spPr>
      </p:pic>
      <p:sp>
        <p:nvSpPr>
          <p:cNvPr id="179" name=""/>
          <p:cNvSpPr/>
          <p:nvPr/>
        </p:nvSpPr>
        <p:spPr>
          <a:xfrm>
            <a:off x="180000" y="849960"/>
            <a:ext cx="5759640" cy="29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Niveau 4 : Association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Objectif : tester si le modèle peut lier des faits injectés à ceux qu’il connaissait déjà.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🧾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Exemple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Nouveau connaissance injecté : “Mercy’s spouse is Mark.”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connaissance préexistant : “Mark was born in 1960.”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Question : “When was Mercy’s spouse born?”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→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Réponse : “1960”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1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7F99165A-8D5D-4719-89E0-BC1D30F6F729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15870D44-EC63-45F8-945B-8949B9867B4E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0" y="0"/>
            <a:ext cx="294948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fffff0"/>
                </a:solidFill>
                <a:latin typeface="Arial"/>
              </a:rPr>
              <a:t>Construction du corpus DeepKnowledge 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5" name=""/>
          <p:cNvSpPr/>
          <p:nvPr/>
        </p:nvSpPr>
        <p:spPr>
          <a:xfrm>
            <a:off x="2700000" y="360000"/>
            <a:ext cx="380592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Résumé de la construction du corpus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6" name=""/>
          <p:cNvGraphicFramePr/>
          <p:nvPr/>
        </p:nvGraphicFramePr>
        <p:xfrm>
          <a:off x="610560" y="1672200"/>
          <a:ext cx="8819280" cy="1472040"/>
        </p:xfrm>
        <a:graphic>
          <a:graphicData uri="http://schemas.openxmlformats.org/drawingml/2006/table">
            <a:tbl>
              <a:tblPr/>
              <a:tblGrid>
                <a:gridCol w="2203920"/>
                <a:gridCol w="2754360"/>
                <a:gridCol w="1653840"/>
                <a:gridCol w="2207520"/>
              </a:tblGrid>
              <a:tr h="346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Étape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Source / Méthode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Données produites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Objectif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1. Faits réels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WikiFactDiff + MQuAKE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26 477 faits filtrés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Base préexistante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2. Faits synthétiques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Générés avec LLMs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109 860 faits fictifs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Nouvelles connaissances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3. Cas de test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GPT-4 + règles (Cloze, Reformulation, Raisonnement)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4 types de questions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Évaluer la profondeur d’injection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7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8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9E7DEDB0-77C9-4460-B8A9-B01361E94276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3A1A3E58-B64F-4EC3-8F13-1CBB26D34B6F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-26280" y="0"/>
            <a:ext cx="380592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fffff0"/>
                </a:solidFill>
                <a:latin typeface="Arial"/>
              </a:rPr>
              <a:t>Résumé de la construction du corpus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2" name=""/>
          <p:cNvSpPr/>
          <p:nvPr/>
        </p:nvSpPr>
        <p:spPr>
          <a:xfrm>
            <a:off x="1620000" y="360000"/>
            <a:ext cx="7019640" cy="85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Scénarios d’Injection (Knowledge Injection Scenarios)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93" name=""/>
          <p:cNvGraphicFramePr/>
          <p:nvPr/>
        </p:nvGraphicFramePr>
        <p:xfrm>
          <a:off x="744480" y="1109520"/>
          <a:ext cx="8975160" cy="3148560"/>
        </p:xfrm>
        <a:graphic>
          <a:graphicData uri="http://schemas.openxmlformats.org/drawingml/2006/table">
            <a:tbl>
              <a:tblPr/>
              <a:tblGrid>
                <a:gridCol w="2991600"/>
                <a:gridCol w="2991600"/>
                <a:gridCol w="2992320"/>
              </a:tblGrid>
              <a:tr h="38340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Scénario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Description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Objectif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384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1. Duplicate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Le même fait est répété plusieurs fois sans changement.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Tester si la répétition seule renforce la mémorisation.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384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2. Vanilla Paraphrase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Le fait est reformulé par un LLM (même sens, mots différents).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Tester si le modèle apprend à partir de variantes linguistiques.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384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3. Style-enhanced Paraphrase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Le fait est reformulé avec des variations de style (formel, lyrique, dialogue, etc. )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Tester la robustesse du modèle à la diversité linguistique.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384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4. Single-step Implicit Reasoning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Le savoir injecté contient un raisonnement implicite (ex : fait + question + réponse courte).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Voir si le modèle apprend par raisonnement implicite.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564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5. Single-step Explicit Reasoning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Le savoir injecté contient un raisonnement complet (fait + question + raisonnement + réponse).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0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Vérifier si le modèle apprend mieux quand la chaîne de raisonnement est visible.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4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5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3BF7116D-0F5E-486C-9CEA-CE373BD6E775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CEA29F4B-FD49-41F5-8CB4-F794CA4954E4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0" y="-12960"/>
            <a:ext cx="22896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fffff0"/>
                </a:solidFill>
                <a:latin typeface="Arial"/>
              </a:rPr>
              <a:t>Scénarios d’Injection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9" name=""/>
          <p:cNvSpPr/>
          <p:nvPr/>
        </p:nvSpPr>
        <p:spPr>
          <a:xfrm>
            <a:off x="155880" y="307440"/>
            <a:ext cx="290376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Méthodes de Test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00" name=""/>
          <p:cNvGraphicFramePr/>
          <p:nvPr/>
        </p:nvGraphicFramePr>
        <p:xfrm>
          <a:off x="272880" y="749160"/>
          <a:ext cx="9626760" cy="1816200"/>
        </p:xfrm>
        <a:graphic>
          <a:graphicData uri="http://schemas.openxmlformats.org/drawingml/2006/table">
            <a:tbl>
              <a:tblPr/>
              <a:tblGrid>
                <a:gridCol w="3207960"/>
                <a:gridCol w="3207960"/>
                <a:gridCol w="3211200"/>
              </a:tblGrid>
              <a:tr h="346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Setting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Description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Ce que cela évalue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0-shot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Le modèle reçoit seulement la question, sans aucun exemple.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Vérifie si la connaissance a été apprise profondément (mémorisation).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3-shot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Le modèle reçoit 3 exemples similaires avant la question.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Vérifie si le modèle peut utiliser des exemples contextuels pour raisonner.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3-shot CoT (Chain-of-Thought)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Même chose que 3-shot, mais les exemples montrent le raisonnement complet étape par étape.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Évalue si le modèle peut imiter une logique de raisonnement explicite.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1" name=""/>
          <p:cNvSpPr/>
          <p:nvPr/>
        </p:nvSpPr>
        <p:spPr>
          <a:xfrm>
            <a:off x="180000" y="2880000"/>
            <a:ext cx="9359640" cy="90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"/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Memorization / Retrieval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Ces tâches testent si le modèle se souvient ou retrouve les faits injectés.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Une réponse est considérée correcte si la vérité (ground truth) apparaît dans la première phrase du texte généré par le modèle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 rot="21583200">
            <a:off x="183960" y="3803040"/>
            <a:ext cx="9520200" cy="166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474"/>
              </a:spcBef>
              <a:spcAft>
                <a:spcPts val="1276"/>
              </a:spcAft>
              <a:buClr>
                <a:srgbClr val="000000"/>
              </a:buClr>
              <a:buSzPct val="45000"/>
              <a:buFont typeface="Wingdings" charset="2"/>
              <a:buChar char=""/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Reasoning / Association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74"/>
              </a:spcBef>
              <a:spcAft>
                <a:spcPts val="1276"/>
              </a:spcAf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Ces tâches évaluent la capacité de raisonnement du modèle à partir de faits connus.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74"/>
              </a:spcBef>
              <a:spcAft>
                <a:spcPts val="1276"/>
              </a:spcAf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Le modèle est guidé pour répondre sous la forme “Answer: …”, ce qui facilite l’évaluation automatique.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74"/>
              </a:spcBef>
              <a:spcAft>
                <a:spcPts val="1276"/>
              </a:spcAf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La réponse est correcte si le mot ou l’initiale qui suit “Answer:” correspond à la vérité.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74"/>
              </a:spcBef>
              <a:spcAft>
                <a:spcPts val="1276"/>
              </a:spcAf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180000" y="2520000"/>
            <a:ext cx="3363840" cy="4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000000"/>
                </a:solidFill>
                <a:latin typeface="Arial"/>
              </a:rPr>
              <a:t>Évaluation (Evaluation Metrics)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5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536B364A-8124-4890-BDCF-0953331B7396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60850A73-3BCC-4470-A3E9-85309339A2C1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-16200" y="0"/>
            <a:ext cx="145584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fffff0"/>
                </a:solidFill>
                <a:latin typeface="Arial"/>
              </a:rPr>
              <a:t>Méthodes de Test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9" name=""/>
          <p:cNvSpPr/>
          <p:nvPr/>
        </p:nvSpPr>
        <p:spPr>
          <a:xfrm>
            <a:off x="66960" y="230040"/>
            <a:ext cx="5872680" cy="4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Détails d’Entraînement (Training Details)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0" y="590040"/>
            <a:ext cx="9573840" cy="4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Pour injecter les nouvelles connaissances, les auteurs utilisent le Continued Pretraining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66960" y="1093320"/>
            <a:ext cx="587268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32cd32"/>
                </a:solidFill>
                <a:latin typeface="Arial"/>
              </a:rPr>
              <a:t>1-Knowledge Memorization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2" name="" descr=""/>
          <p:cNvPicPr/>
          <p:nvPr/>
        </p:nvPicPr>
        <p:blipFill>
          <a:blip r:embed="rId1"/>
          <a:stretch/>
        </p:blipFill>
        <p:spPr>
          <a:xfrm>
            <a:off x="2160000" y="1093320"/>
            <a:ext cx="6047640" cy="3314160"/>
          </a:xfrm>
          <a:prstGeom prst="rect">
            <a:avLst/>
          </a:prstGeom>
          <a:ln w="0">
            <a:noFill/>
          </a:ln>
        </p:spPr>
      </p:pic>
      <p:sp>
        <p:nvSpPr>
          <p:cNvPr id="213" name=""/>
          <p:cNvSpPr/>
          <p:nvPr/>
        </p:nvSpPr>
        <p:spPr>
          <a:xfrm>
            <a:off x="540360" y="4500000"/>
            <a:ext cx="8819280" cy="719640"/>
          </a:xfrm>
          <a:prstGeom prst="roundRect">
            <a:avLst>
              <a:gd name="adj" fmla="val 16667"/>
            </a:avLst>
          </a:prstGeom>
          <a:solidFill>
            <a:srgbClr val="dc143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La figure  montre que plus on répète un fait pendant l’entraînement, plus le modèle est capable de s’en souvenir, et après plusieurs répétitions, il atteint une mémorisation quasi parfaite (~95%).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15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A834EEC2-A1D4-412C-A704-F3762C007C01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E3E3C342-595B-49B5-BE2E-3DB19F968CCB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218" name="" descr=""/>
          <p:cNvPicPr/>
          <p:nvPr/>
        </p:nvPicPr>
        <p:blipFill>
          <a:blip r:embed="rId1"/>
          <a:stretch/>
        </p:blipFill>
        <p:spPr>
          <a:xfrm>
            <a:off x="1800000" y="900360"/>
            <a:ext cx="7169400" cy="3779640"/>
          </a:xfrm>
          <a:prstGeom prst="rect">
            <a:avLst/>
          </a:prstGeom>
          <a:ln w="0">
            <a:noFill/>
          </a:ln>
        </p:spPr>
      </p:pic>
      <p:sp>
        <p:nvSpPr>
          <p:cNvPr id="219" name=""/>
          <p:cNvSpPr/>
          <p:nvPr/>
        </p:nvSpPr>
        <p:spPr>
          <a:xfrm>
            <a:off x="900000" y="4680000"/>
            <a:ext cx="8819280" cy="719640"/>
          </a:xfrm>
          <a:prstGeom prst="roundRect">
            <a:avLst>
              <a:gd name="adj" fmla="val 16667"/>
            </a:avLst>
          </a:prstGeom>
          <a:solidFill>
            <a:srgbClr val="ff1493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Malgré une mémorisation quasi parfaite, la récupération et le raisonnement restent faibles.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21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0B02B56D-45CE-421A-99DE-09E04CBA7544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A7E06E7B-CDC1-4655-A5AA-49B321AE6E0B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180000" y="468360"/>
            <a:ext cx="50400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fr-FR" sz="1200" spc="-1" strike="noStrike">
                <a:solidFill>
                  <a:srgbClr val="32cd32"/>
                </a:solidFill>
                <a:latin typeface="Arial"/>
              </a:rPr>
              <a:t>2-Knowledge Reasoning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25" name=""/>
          <p:cNvSpPr/>
          <p:nvPr/>
        </p:nvSpPr>
        <p:spPr>
          <a:xfrm>
            <a:off x="66960" y="297720"/>
            <a:ext cx="587268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32cd32"/>
                </a:solidFill>
                <a:latin typeface="Arial"/>
              </a:rPr>
              <a:t>3-Knowledge Retrieval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6" name="" descr=""/>
          <p:cNvPicPr/>
          <p:nvPr/>
        </p:nvPicPr>
        <p:blipFill>
          <a:blip r:embed="rId1"/>
          <a:stretch/>
        </p:blipFill>
        <p:spPr>
          <a:xfrm>
            <a:off x="2743560" y="360000"/>
            <a:ext cx="3736080" cy="3421080"/>
          </a:xfrm>
          <a:prstGeom prst="rect">
            <a:avLst/>
          </a:prstGeom>
          <a:ln w="0">
            <a:noFill/>
          </a:ln>
        </p:spPr>
      </p:pic>
      <p:sp>
        <p:nvSpPr>
          <p:cNvPr id="227" name=""/>
          <p:cNvSpPr/>
          <p:nvPr/>
        </p:nvSpPr>
        <p:spPr>
          <a:xfrm>
            <a:off x="540360" y="3780000"/>
            <a:ext cx="8819280" cy="539640"/>
          </a:xfrm>
          <a:prstGeom prst="roundRect">
            <a:avLst>
              <a:gd name="adj" fmla="val 16667"/>
            </a:avLst>
          </a:prstGeom>
          <a:solidFill>
            <a:srgbClr val="ff1493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Même si le modèle a mémorisé les faits (duplicate injection), le score de récupération reste bas (~20%).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540360" y="4500000"/>
            <a:ext cx="8819280" cy="719640"/>
          </a:xfrm>
          <a:prstGeom prst="roundRect">
            <a:avLst>
              <a:gd name="adj" fmla="val 16667"/>
            </a:avLst>
          </a:prstGeom>
          <a:solidFill>
            <a:srgbClr val="ff1493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La reformulation des faits dans des expressions variées améliore fortement la capacité de récupération.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30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ED059616-309D-4F56-930D-52BA875C7816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AED6CB7B-E99C-47C6-8CB5-A4982894ED86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33" name=""/>
          <p:cNvSpPr/>
          <p:nvPr/>
        </p:nvSpPr>
        <p:spPr>
          <a:xfrm>
            <a:off x="66960" y="297720"/>
            <a:ext cx="587268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400" spc="-1" strike="noStrike">
                <a:solidFill>
                  <a:srgbClr val="32cd32"/>
                </a:solidFill>
                <a:latin typeface="Arial"/>
              </a:rPr>
              <a:t>4- Knowledge Association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4" name="" descr=""/>
          <p:cNvPicPr/>
          <p:nvPr/>
        </p:nvPicPr>
        <p:blipFill>
          <a:blip r:embed="rId1"/>
          <a:stretch/>
        </p:blipFill>
        <p:spPr>
          <a:xfrm>
            <a:off x="2305440" y="540000"/>
            <a:ext cx="6154200" cy="3599640"/>
          </a:xfrm>
          <a:prstGeom prst="rect">
            <a:avLst/>
          </a:prstGeom>
          <a:ln w="0">
            <a:noFill/>
          </a:ln>
        </p:spPr>
      </p:pic>
      <p:sp>
        <p:nvSpPr>
          <p:cNvPr id="235" name=""/>
          <p:cNvSpPr/>
          <p:nvPr/>
        </p:nvSpPr>
        <p:spPr>
          <a:xfrm>
            <a:off x="720000" y="4500000"/>
            <a:ext cx="8819280" cy="719640"/>
          </a:xfrm>
          <a:prstGeom prst="roundRect">
            <a:avLst>
              <a:gd name="adj" fmla="val 16667"/>
            </a:avLst>
          </a:prstGeom>
          <a:solidFill>
            <a:srgbClr val="ff1493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Les LLMs sont capables de relier de manière efficace de nouvelles connaissances à des connaissances existantes lorsqu’il s’agit d’associations simples (,2-step), surtout si les informations sont présentées de manière diversifiée.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37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A79B647B-84EE-494D-B6BE-2CAA179FE2DE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D6A3F183-EDAE-47F8-9C6D-9CE2DBA8DFEC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40" name=""/>
          <p:cNvSpPr/>
          <p:nvPr/>
        </p:nvSpPr>
        <p:spPr>
          <a:xfrm>
            <a:off x="66960" y="297720"/>
            <a:ext cx="5872680" cy="4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32cd32"/>
                </a:solidFill>
                <a:latin typeface="Arial"/>
              </a:rPr>
              <a:t>4-Knowledge Reasoning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205560" y="744120"/>
            <a:ext cx="5374080" cy="69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Pour qu’un LLM puisse raisonner en profondeur, il est crucial de connecter les nouvelles connaissances via des mécanismes explicites de raisonnement, plutôt que de se contenter de les mémoriser.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180000" y="1620000"/>
            <a:ext cx="3574080" cy="4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400" spc="-1" strike="noStrike">
                <a:solidFill>
                  <a:srgbClr val="ff1493"/>
                </a:solidFill>
                <a:latin typeface="Arial"/>
              </a:rPr>
              <a:t>Analyse des erreurs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3" name="" descr=""/>
          <p:cNvPicPr/>
          <p:nvPr/>
        </p:nvPicPr>
        <p:blipFill>
          <a:blip r:embed="rId1"/>
          <a:stretch/>
        </p:blipFill>
        <p:spPr>
          <a:xfrm>
            <a:off x="4680000" y="1800000"/>
            <a:ext cx="5039640" cy="3169800"/>
          </a:xfrm>
          <a:prstGeom prst="rect">
            <a:avLst/>
          </a:prstGeom>
          <a:ln w="0">
            <a:noFill/>
          </a:ln>
        </p:spPr>
      </p:pic>
      <p:sp>
        <p:nvSpPr>
          <p:cNvPr id="244" name=""/>
          <p:cNvSpPr/>
          <p:nvPr/>
        </p:nvSpPr>
        <p:spPr>
          <a:xfrm>
            <a:off x="205560" y="2417400"/>
            <a:ext cx="3773520" cy="241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Pour la nouvelle connaissance, la majorité des erreurs dans le raisonnement complexe viennent de mauvaises décompositions du problème (&gt;50%). Le modèle peine à organiser correctement les étapes de raisonnement.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Pour la connaissance mise à jour, les erreurs viennent surtout de rappels incorrects : le modèle a du mal à appliquer de nouvelles informations qui contredisent ou diffèrent de ses connaissances existantes, ce qui provoque des hallucinations.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45" name=""/>
          <p:cNvGrpSpPr/>
          <p:nvPr/>
        </p:nvGrpSpPr>
        <p:grpSpPr>
          <a:xfrm>
            <a:off x="0" y="5359680"/>
            <a:ext cx="10079640" cy="516600"/>
            <a:chOff x="0" y="5359680"/>
            <a:chExt cx="10079640" cy="516600"/>
          </a:xfrm>
        </p:grpSpPr>
        <p:sp>
          <p:nvSpPr>
            <p:cNvPr id="246" name=""/>
            <p:cNvSpPr/>
            <p:nvPr/>
          </p:nvSpPr>
          <p:spPr>
            <a:xfrm>
              <a:off x="9720000" y="5359680"/>
              <a:ext cx="35964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fr-FR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fld id="{43B86F91-C5B8-4661-9B42-48FA041F60BE}" type="slidenum">
                <a:rPr b="0" lang="fr-FR" sz="1200" spc="-1" strike="noStrike">
                  <a:solidFill>
                    <a:srgbClr val="fffff0"/>
                  </a:solidFill>
                  <a:latin typeface="Arial"/>
                </a:rPr>
                <a:t>&lt;number&gt;</a:t>
              </a:fld>
              <a:endParaRPr b="0" lang="fr-FR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7" name=""/>
            <p:cNvSpPr/>
            <p:nvPr/>
          </p:nvSpPr>
          <p:spPr>
            <a:xfrm>
              <a:off x="0" y="5431680"/>
              <a:ext cx="1619640" cy="26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fr-FR" sz="1200" spc="-1" strike="noStrike">
                  <a:solidFill>
                    <a:srgbClr val="fffff0"/>
                  </a:solidFill>
                  <a:latin typeface="Arial"/>
                </a:rPr>
                <a:t> </a:t>
              </a:r>
              <a:fld id="{7A75A4BA-5E07-47C8-97F7-1ED2656A44E2}" type="datetime">
                <a:rPr b="0" lang="fr-FR" sz="1200" spc="-1" strike="noStrike">
                  <a:solidFill>
                    <a:srgbClr val="fffff0"/>
                  </a:solidFill>
                  <a:latin typeface="Arial"/>
                </a:rPr>
                <a:t>05/11/2025</a:t>
              </a:fld>
              <a:endParaRPr b="0" lang="fr-FR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8" name=""/>
            <p:cNvSpPr/>
            <p:nvPr/>
          </p:nvSpPr>
          <p:spPr>
            <a:xfrm>
              <a:off x="0" y="5431680"/>
              <a:ext cx="10079640" cy="269640"/>
            </a:xfrm>
            <a:prstGeom prst="rect">
              <a:avLst/>
            </a:prstGeom>
            <a:solidFill>
              <a:srgbClr val="4169e1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49" name=""/>
            <p:cNvSpPr/>
            <p:nvPr/>
          </p:nvSpPr>
          <p:spPr>
            <a:xfrm>
              <a:off x="9540000" y="5359680"/>
              <a:ext cx="53964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fr-FR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fld id="{51346C65-5AB0-411F-A901-D41D349E232A}" type="slidenum">
                <a:rPr b="0" lang="fr-FR" sz="1200" spc="-1" strike="noStrike">
                  <a:solidFill>
                    <a:srgbClr val="fffff0"/>
                  </a:solidFill>
                  <a:latin typeface="Arial"/>
                </a:rPr>
                <a:t>&lt;number&gt;</a:t>
              </a:fld>
              <a:endParaRPr b="0" lang="fr-FR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0" name=""/>
            <p:cNvSpPr/>
            <p:nvPr/>
          </p:nvSpPr>
          <p:spPr>
            <a:xfrm>
              <a:off x="0" y="5431680"/>
              <a:ext cx="1619640" cy="26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fr-FR" sz="1200" spc="-1" strike="noStrike">
                  <a:solidFill>
                    <a:srgbClr val="fffff0"/>
                  </a:solidFill>
                  <a:latin typeface="Arial"/>
                </a:rPr>
                <a:t> </a:t>
              </a:r>
              <a:fld id="{0628CBD1-0A13-49A0-8CC9-13AE94B5E619}" type="datetime">
                <a:rPr b="0" lang="fr-FR" sz="1200" spc="-1" strike="noStrike">
                  <a:solidFill>
                    <a:srgbClr val="fffff0"/>
                  </a:solidFill>
                  <a:latin typeface="Arial"/>
                </a:rPr>
                <a:t>05/11/2025</a:t>
              </a:fld>
              <a:endParaRPr b="0" lang="fr-FR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52" name=""/>
          <p:cNvSpPr/>
          <p:nvPr/>
        </p:nvSpPr>
        <p:spPr>
          <a:xfrm>
            <a:off x="3960000" y="360000"/>
            <a:ext cx="2159640" cy="4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000000"/>
                </a:solidFill>
                <a:latin typeface="Arial"/>
              </a:rPr>
              <a:t>Conclusion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540000" y="1117440"/>
            <a:ext cx="8818560" cy="19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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 papier propose un cadre à quatre couches pour l’injection de connaissances : mémorisation, récupération, raisonnement et association.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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 benchmark DeepKnowledge permet d’évaluer systématiquement la profondeur de l’injection de connaissances dans les LLMs.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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Les résultats montrent que chaque niveau de connaissance nécessite des méthodes et facteurs d’entraînement spécifiques pour être efficacement acquis.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720000" y="3135240"/>
            <a:ext cx="7019640" cy="244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400" spc="-1" strike="noStrike">
                <a:solidFill>
                  <a:srgbClr val="0000ff"/>
                </a:solidFill>
                <a:latin typeface="Arial"/>
              </a:rPr>
              <a:t>Facteurs clés pour une injection efficace :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Répétition pour la mémorisation.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Diversité des formulations pour la récupération.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Schémas explicites pour le raisonnement multi-étapes et l’association.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55" name=""/>
          <p:cNvGrpSpPr/>
          <p:nvPr/>
        </p:nvGrpSpPr>
        <p:grpSpPr>
          <a:xfrm>
            <a:off x="0" y="5359680"/>
            <a:ext cx="10079640" cy="516600"/>
            <a:chOff x="0" y="5359680"/>
            <a:chExt cx="10079640" cy="516600"/>
          </a:xfrm>
        </p:grpSpPr>
        <p:sp>
          <p:nvSpPr>
            <p:cNvPr id="256" name=""/>
            <p:cNvSpPr/>
            <p:nvPr/>
          </p:nvSpPr>
          <p:spPr>
            <a:xfrm>
              <a:off x="0" y="5431680"/>
              <a:ext cx="10079640" cy="269640"/>
            </a:xfrm>
            <a:prstGeom prst="rect">
              <a:avLst/>
            </a:prstGeom>
            <a:solidFill>
              <a:srgbClr val="4169e1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57" name=""/>
            <p:cNvSpPr/>
            <p:nvPr/>
          </p:nvSpPr>
          <p:spPr>
            <a:xfrm>
              <a:off x="9540000" y="5359680"/>
              <a:ext cx="53964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fr-FR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fld id="{B1242ED0-1D24-456D-AC35-947F26B0D64A}" type="slidenum">
                <a:rPr b="0" lang="fr-FR" sz="1200" spc="-1" strike="noStrike">
                  <a:solidFill>
                    <a:srgbClr val="fffff0"/>
                  </a:solidFill>
                  <a:latin typeface="Arial"/>
                </a:rPr>
                <a:t>&lt;number&gt;</a:t>
              </a:fld>
              <a:endParaRPr b="0" lang="fr-FR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8" name=""/>
            <p:cNvSpPr/>
            <p:nvPr/>
          </p:nvSpPr>
          <p:spPr>
            <a:xfrm>
              <a:off x="0" y="5431680"/>
              <a:ext cx="1619640" cy="26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fr-FR" sz="1200" spc="-1" strike="noStrike">
                  <a:solidFill>
                    <a:srgbClr val="fffff0"/>
                  </a:solidFill>
                  <a:latin typeface="Arial"/>
                </a:rPr>
                <a:t> </a:t>
              </a:r>
              <a:fld id="{CB6C4DFA-EEBF-413E-BC60-9976338184FD}" type="datetime">
                <a:rPr b="0" lang="fr-FR" sz="1200" spc="-1" strike="noStrike">
                  <a:solidFill>
                    <a:srgbClr val="fffff0"/>
                  </a:solidFill>
                  <a:latin typeface="Arial"/>
                </a:rPr>
                <a:t>05/11/2025</a:t>
              </a:fld>
              <a:endParaRPr b="0" lang="fr-FR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59" name=""/>
          <p:cNvSpPr/>
          <p:nvPr/>
        </p:nvSpPr>
        <p:spPr>
          <a:xfrm>
            <a:off x="0" y="0"/>
            <a:ext cx="114948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fffff0"/>
                </a:solidFill>
                <a:latin typeface="Arial"/>
              </a:rPr>
              <a:t>Conclusion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61" name=""/>
          <p:cNvSpPr/>
          <p:nvPr/>
        </p:nvSpPr>
        <p:spPr>
          <a:xfrm>
            <a:off x="7380000" y="3060000"/>
            <a:ext cx="215964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Yadav et al,2024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2" name=""/>
          <p:cNvGrpSpPr/>
          <p:nvPr/>
        </p:nvGrpSpPr>
        <p:grpSpPr>
          <a:xfrm>
            <a:off x="0" y="5359680"/>
            <a:ext cx="10079640" cy="516600"/>
            <a:chOff x="0" y="5359680"/>
            <a:chExt cx="10079640" cy="516600"/>
          </a:xfrm>
        </p:grpSpPr>
        <p:sp>
          <p:nvSpPr>
            <p:cNvPr id="263" name=""/>
            <p:cNvSpPr/>
            <p:nvPr/>
          </p:nvSpPr>
          <p:spPr>
            <a:xfrm>
              <a:off x="0" y="5431680"/>
              <a:ext cx="10079640" cy="269640"/>
            </a:xfrm>
            <a:prstGeom prst="rect">
              <a:avLst/>
            </a:prstGeom>
            <a:solidFill>
              <a:srgbClr val="4169e1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64" name=""/>
            <p:cNvSpPr/>
            <p:nvPr/>
          </p:nvSpPr>
          <p:spPr>
            <a:xfrm>
              <a:off x="9540000" y="5359680"/>
              <a:ext cx="53964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fr-FR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fld id="{8110356E-C93D-45A5-A272-960157EB0AAA}" type="slidenum">
                <a:rPr b="0" lang="fr-FR" sz="1200" spc="-1" strike="noStrike">
                  <a:solidFill>
                    <a:srgbClr val="fffff0"/>
                  </a:solidFill>
                  <a:latin typeface="Arial"/>
                </a:rPr>
                <a:t>&lt;number&gt;</a:t>
              </a:fld>
              <a:endParaRPr b="0" lang="fr-FR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" name=""/>
            <p:cNvSpPr/>
            <p:nvPr/>
          </p:nvSpPr>
          <p:spPr>
            <a:xfrm>
              <a:off x="0" y="5431680"/>
              <a:ext cx="1619640" cy="26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fr-FR" sz="1200" spc="-1" strike="noStrike">
                  <a:solidFill>
                    <a:srgbClr val="fffff0"/>
                  </a:solidFill>
                  <a:latin typeface="Arial"/>
                </a:rPr>
                <a:t> </a:t>
              </a:r>
              <a:fld id="{FA162670-8CCB-418A-B99B-8C3C7B7E1819}" type="datetime">
                <a:rPr b="0" lang="fr-FR" sz="1200" spc="-1" strike="noStrike">
                  <a:solidFill>
                    <a:srgbClr val="fffff0"/>
                  </a:solidFill>
                  <a:latin typeface="Arial"/>
                </a:rPr>
                <a:t>05/11/2025</a:t>
              </a:fld>
              <a:endParaRPr b="0" lang="fr-FR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66" name=""/>
          <p:cNvSpPr/>
          <p:nvPr/>
        </p:nvSpPr>
        <p:spPr>
          <a:xfrm>
            <a:off x="1440000" y="1620000"/>
            <a:ext cx="7739640" cy="1259640"/>
          </a:xfrm>
          <a:prstGeom prst="rect">
            <a:avLst/>
          </a:prstGeom>
          <a:solidFill>
            <a:srgbClr val="0070c0"/>
          </a:solidFill>
          <a:ln w="12600">
            <a:solidFill>
              <a:srgbClr val="18a30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 defTabSz="658440">
              <a:lnSpc>
                <a:spcPct val="100000"/>
              </a:lnSpc>
            </a:pPr>
            <a:r>
              <a:rPr b="1" lang="fr-FR" sz="1800" spc="-1" strike="noStrike">
                <a:solidFill>
                  <a:srgbClr val="fffff0"/>
                </a:solidFill>
                <a:latin typeface="Cambria"/>
                <a:ea typeface="Arial"/>
              </a:rPr>
              <a:t>External Knowledge Integration in Large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658440">
              <a:lnSpc>
                <a:spcPct val="100000"/>
              </a:lnSpc>
            </a:pPr>
            <a:r>
              <a:rPr b="1" lang="fr-FR" sz="1800" spc="-1" strike="noStrike">
                <a:solidFill>
                  <a:srgbClr val="fffff0"/>
                </a:solidFill>
                <a:latin typeface="Cambria"/>
                <a:ea typeface="Arial"/>
              </a:rPr>
              <a:t>Language Models: A Survey on Methods,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658440">
              <a:lnSpc>
                <a:spcPct val="100000"/>
              </a:lnSpc>
            </a:pPr>
            <a:r>
              <a:rPr b="1" lang="fr-FR" sz="1800" spc="-1" strike="noStrike">
                <a:solidFill>
                  <a:srgbClr val="fffff0"/>
                </a:solidFill>
                <a:latin typeface="Cambria"/>
                <a:ea typeface="Arial"/>
              </a:rPr>
              <a:t>Challenges, and Future Directions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68" name=""/>
          <p:cNvSpPr/>
          <p:nvPr/>
        </p:nvSpPr>
        <p:spPr>
          <a:xfrm>
            <a:off x="23400" y="360000"/>
            <a:ext cx="141624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Contexte général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141120" y="900000"/>
            <a:ext cx="7238520" cy="11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Les grands modèles de langage (LLMs)  comme GPT, LLaMA sont très performants pour comprendre et générer du texte.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Mais lorsqu’on les utilise dans des domaines très spécialisés (comme la médecine, la finance, le droit, ou la recherche scientifique), ils montrent certaines limites importantes 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180000" y="2390040"/>
            <a:ext cx="3239640" cy="4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000000"/>
                </a:solidFill>
                <a:latin typeface="Arial"/>
              </a:rPr>
              <a:t>Les limites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180000" y="2745000"/>
            <a:ext cx="9719640" cy="13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Connaissance statique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     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 modèle ne connaît que ce qui existait au moment de son entraînement.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     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Il ne peut pas apprendre les nouveaux faits scientifiques publiés ensuite.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0" y="3780000"/>
            <a:ext cx="9179640" cy="13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2.  Manque de données spécialisées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Les LLMs sont souvent entraînés sur des données publiques.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ils n’ont pas accès aux documents propriétaires, comme : les fiches techniques,les rapports d’expérience,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➜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Cela les empêche de bien comprendre le contexte scientifique réel.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3" name=""/>
          <p:cNvGrpSpPr/>
          <p:nvPr/>
        </p:nvGrpSpPr>
        <p:grpSpPr>
          <a:xfrm>
            <a:off x="0" y="5359680"/>
            <a:ext cx="10079640" cy="516600"/>
            <a:chOff x="0" y="5359680"/>
            <a:chExt cx="10079640" cy="516600"/>
          </a:xfrm>
        </p:grpSpPr>
        <p:sp>
          <p:nvSpPr>
            <p:cNvPr id="274" name=""/>
            <p:cNvSpPr/>
            <p:nvPr/>
          </p:nvSpPr>
          <p:spPr>
            <a:xfrm>
              <a:off x="0" y="5431680"/>
              <a:ext cx="10079640" cy="269640"/>
            </a:xfrm>
            <a:prstGeom prst="rect">
              <a:avLst/>
            </a:prstGeom>
            <a:solidFill>
              <a:srgbClr val="4169e1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75" name=""/>
            <p:cNvSpPr/>
            <p:nvPr/>
          </p:nvSpPr>
          <p:spPr>
            <a:xfrm>
              <a:off x="9540000" y="5359680"/>
              <a:ext cx="53964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fr-FR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fld id="{350B28CD-C35D-451D-A7E8-2A5EEFAFB4CF}" type="slidenum">
                <a:rPr b="0" lang="fr-FR" sz="1200" spc="-1" strike="noStrike">
                  <a:solidFill>
                    <a:srgbClr val="fffff0"/>
                  </a:solidFill>
                  <a:latin typeface="Arial"/>
                </a:rPr>
                <a:t>&lt;number&gt;</a:t>
              </a:fld>
              <a:endParaRPr b="0" lang="fr-FR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6" name=""/>
            <p:cNvSpPr/>
            <p:nvPr/>
          </p:nvSpPr>
          <p:spPr>
            <a:xfrm>
              <a:off x="0" y="5431680"/>
              <a:ext cx="1619640" cy="26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fr-FR" sz="1200" spc="-1" strike="noStrike">
                  <a:solidFill>
                    <a:srgbClr val="fffff0"/>
                  </a:solidFill>
                  <a:latin typeface="Arial"/>
                </a:rPr>
                <a:t> </a:t>
              </a:r>
              <a:fld id="{D839A09C-AACA-4B1F-A7FB-F0012C3B9662}" type="datetime">
                <a:rPr b="0" lang="fr-FR" sz="1200" spc="-1" strike="noStrike">
                  <a:solidFill>
                    <a:srgbClr val="fffff0"/>
                  </a:solidFill>
                  <a:latin typeface="Arial"/>
                </a:rPr>
                <a:t>05/11/2025</a:t>
              </a:fld>
              <a:endParaRPr b="0" lang="fr-FR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77" name=""/>
          <p:cNvSpPr/>
          <p:nvPr/>
        </p:nvSpPr>
        <p:spPr>
          <a:xfrm>
            <a:off x="0" y="0"/>
            <a:ext cx="141624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fffff0"/>
                </a:solidFill>
                <a:latin typeface="Arial"/>
              </a:rPr>
              <a:t>Contexte général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79" name=""/>
          <p:cNvSpPr/>
          <p:nvPr/>
        </p:nvSpPr>
        <p:spPr>
          <a:xfrm>
            <a:off x="180000" y="360000"/>
            <a:ext cx="3239640" cy="4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000000"/>
                </a:solidFill>
                <a:latin typeface="Arial"/>
              </a:rPr>
              <a:t>Les limites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293040" y="720000"/>
            <a:ext cx="8526600" cy="12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3.  Hallucinations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Ils peuvent inventer des faits lorsqu’ils n’ont pas accès aux bonnes informations.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Ces textes paraissent corrects grammaticalement, mais contiennent de la désinformation.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C’est particulièrement dangereux dans les domaines scientifiques, où la précision est essentielle.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326160" y="2520000"/>
            <a:ext cx="56134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5 . Scalabilité : les modèles deviennent coûteux à utiliser ou à adapter.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360000" y="2088360"/>
            <a:ext cx="881964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4. Incohérence : le même modèle peut donner des réponses différentes à des questions identiques.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180000" y="3600000"/>
            <a:ext cx="539640" cy="53964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4" name=""/>
          <p:cNvSpPr/>
          <p:nvPr/>
        </p:nvSpPr>
        <p:spPr>
          <a:xfrm>
            <a:off x="1080000" y="3600000"/>
            <a:ext cx="7739640" cy="539640"/>
          </a:xfrm>
          <a:prstGeom prst="roundRect">
            <a:avLst>
              <a:gd name="adj" fmla="val 16667"/>
            </a:avLst>
          </a:prstGeom>
          <a:solidFill>
            <a:srgbClr val="ff1493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Les LLMs nécessitent l’intégration de connaissances externes afin d’améliorer leur fiabilité, leur précision factuelle et leurs capacités de raisonnement dans les domaines spécialisés.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540000" y="4320000"/>
            <a:ext cx="6468480" cy="90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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Réduire les hallucinations,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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Améliorer le raisonnement et la précision factuelle,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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Mieux adapter les LLMs à des tâches spécifiques ou à des domaines spécialisés.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87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D68BE463-F03B-4D58-8DA6-B8F3B7A1E1B4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7BFAE0C2-5D8F-4E51-9489-CA30467C333C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90" name=""/>
          <p:cNvSpPr/>
          <p:nvPr/>
        </p:nvSpPr>
        <p:spPr>
          <a:xfrm>
            <a:off x="180000" y="360000"/>
            <a:ext cx="5759640" cy="4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000000"/>
                </a:solidFill>
                <a:latin typeface="Arial"/>
              </a:rPr>
              <a:t>Les approches d’injection de connaissances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1" name="" descr=""/>
          <p:cNvPicPr/>
          <p:nvPr/>
        </p:nvPicPr>
        <p:blipFill>
          <a:blip r:embed="rId1"/>
          <a:stretch/>
        </p:blipFill>
        <p:spPr>
          <a:xfrm>
            <a:off x="276120" y="900000"/>
            <a:ext cx="9083520" cy="4388400"/>
          </a:xfrm>
          <a:prstGeom prst="rect">
            <a:avLst/>
          </a:prstGeom>
          <a:ln w="0">
            <a:noFill/>
          </a:ln>
        </p:spPr>
      </p:pic>
      <p:sp>
        <p:nvSpPr>
          <p:cNvPr id="292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93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6E136BDF-00D5-4D04-A346-9C9B00CCE689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C5FDA75D-0813-4079-B175-0C3787341FA3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Les approches d’injection de connaissances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Les approches d’injection de connaissances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119880" y="900000"/>
            <a:ext cx="9959760" cy="9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romanLcPeriod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La connaissance paramétrique correspond à l’information stockée à l’intérieur  du modèle, dans ses poids et paramètres.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romanLcPeriod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Elle est  intégrée pendant l’entraînement ou le fine-tuning, ne peut être ni consultée directement ni modifiée de façon ciblée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romanLcPeriod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Les approches paramétriques visent à injecter la connaissance dans le modèle lui-même,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180000" y="1980000"/>
            <a:ext cx="6748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Pré-entraînement avec des données enrichies en connaissances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478080" y="2279880"/>
            <a:ext cx="8881560" cy="81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 pré-entraînement consiste à former un modèle à partir de zéro sur de grands corpus de texte.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Dans ce contexte, on intègre des connaissances explicites (ex. graphes, bases de faits) dans les données d’entraînement pour que le modèle apprenne à les manipuler.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1080000" y="3240000"/>
            <a:ext cx="7019640" cy="359640"/>
          </a:xfrm>
          <a:prstGeom prst="roundRect">
            <a:avLst>
              <a:gd name="adj" fmla="val 16667"/>
            </a:avLst>
          </a:prstGeom>
          <a:solidFill>
            <a:srgbClr val="ff1493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Limite : même si le modèle “mémorise” ces faits, il peut échouer à les retrouver ou raisonner dessus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1080000" y="3960000"/>
            <a:ext cx="7019640" cy="1079640"/>
          </a:xfrm>
          <a:custGeom>
            <a:avLst/>
            <a:gdLst>
              <a:gd name="textAreaLeft" fmla="*/ 974880 w 7019640"/>
              <a:gd name="textAreaRight" fmla="*/ 5560920 w 7019640"/>
              <a:gd name="textAreaTop" fmla="*/ 165960 h 1079640"/>
              <a:gd name="textAreaBottom" fmla="*/ 866520 h 1079640"/>
            </a:gdLst>
            <a:ahLst/>
            <a:rect l="textAreaLeft" t="textAreaTop" r="textAreaRight" b="textAreaBottom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fill="none" w="21600" h="21600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fill="none" w="21600" h="21600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fill="none" w="21600" h="21600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fill="none" w="21600" h="21600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fill="none" w="21600" h="21600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fill="none" w="21600" h="21600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fill="none" w="21600" h="21600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fill="none" w="21600" h="21600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fill="none" w="21600" h="21600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fill="none" w="21600" h="21600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fill="none" w="21600" h="21600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ffc0cb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Problème clé :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la mémorisation</a:t>
            </a:r>
            <a:r>
              <a:rPr b="0" lang="fr-FR" sz="1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fr-FR" sz="1000" spc="-1" strike="noStrike">
                <a:solidFill>
                  <a:srgbClr val="000000"/>
                </a:solidFill>
                <a:latin typeface="Arial"/>
                <a:ea typeface="DejaVu Sans"/>
              </a:rPr>
              <a:t>≠</a:t>
            </a:r>
            <a:r>
              <a:rPr b="0" lang="fr-FR" sz="1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compréhension</a:t>
            </a:r>
            <a:r>
              <a:rPr b="0" lang="fr-FR" sz="10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Les LLMs peuvent connaître un fait mais échouer à l’utiliser de manière flexible.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0" y="252000"/>
            <a:ext cx="2519640" cy="359640"/>
          </a:xfrm>
          <a:prstGeom prst="rect">
            <a:avLst/>
          </a:prstGeom>
          <a:solidFill>
            <a:srgbClr val="90ee9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  <a:ea typeface="DejaVu Sans"/>
              </a:rPr>
              <a:t>Parametric Knowledge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04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A3D74366-517E-4DD9-AE83-F2B3A981273A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6E06DF6E-2D9A-49C7-B8D2-68626E096D39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Les approches d’injection de connaissances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180000" y="733320"/>
            <a:ext cx="2519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2)  Fine-tuning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671040" y="1080000"/>
            <a:ext cx="79686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 fine-tuning consiste à réentraîner un modèle pré-entraîné sur un corpus plus petit et spécialisé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671040" y="1368360"/>
            <a:ext cx="899964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Ce processus est aussi appelé apprentissage par transfert (transfer learning) ou adaptation au domaine (domain adaptation).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3780000" y="1800000"/>
            <a:ext cx="1979640" cy="53964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  <a:ea typeface="DejaVu Sans"/>
              </a:rPr>
              <a:t>Fine-tuning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360000" y="2880000"/>
            <a:ext cx="2339640" cy="35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Full fine-tuning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5940000" y="2880000"/>
            <a:ext cx="2339640" cy="35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Parameter-efficient fine-tuning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 flipH="1">
            <a:off x="2160000" y="2340000"/>
            <a:ext cx="2520000" cy="540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4" name=""/>
          <p:cNvSpPr/>
          <p:nvPr/>
        </p:nvSpPr>
        <p:spPr>
          <a:xfrm>
            <a:off x="4680000" y="2340000"/>
            <a:ext cx="2520000" cy="540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5" name=""/>
          <p:cNvSpPr/>
          <p:nvPr/>
        </p:nvSpPr>
        <p:spPr>
          <a:xfrm>
            <a:off x="195120" y="3348360"/>
            <a:ext cx="340452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ajuste tous les paramètres du modèle.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213120" y="3727440"/>
            <a:ext cx="392652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Très précis, mais extrêmement coûteux (besoin de GPU puissants, gros temps d’entraînement).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5760000" y="3420000"/>
            <a:ext cx="431964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modifie qu’un petit nombre de paramètres, ce qui réduit le coût computationnel (LoRA, Adapters)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5760000" y="3960000"/>
            <a:ext cx="41396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+Rapide et efficace,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+Moins de risque de “catastrophic forgetting”.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20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5067BE77-6621-43EB-B0E9-80E14CB5A3E4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5C2E43D2-6EB3-4569-BE8B-6A3060456BE3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0" y="252000"/>
            <a:ext cx="2519640" cy="359640"/>
          </a:xfrm>
          <a:prstGeom prst="rect">
            <a:avLst/>
          </a:prstGeom>
          <a:solidFill>
            <a:srgbClr val="90ee9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  <a:ea typeface="DejaVu Sans"/>
              </a:rPr>
              <a:t>Parametric Knowledge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Les approches d’injection de connaissances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360000" y="1016640"/>
            <a:ext cx="881964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Injecter ou corriger des connaissances factuelles dans le modèle, sans devoir réentraîner tout le modèle ni affecter les autres connaissances.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180000" y="706680"/>
            <a:ext cx="485964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3) Knowledge Editing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180000" y="1440000"/>
            <a:ext cx="471564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4) Steering and Styling LLMs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360000" y="1785960"/>
            <a:ext cx="740952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 steering permet d’aligner les sorties du LLM avec des contraintes ou connaissances spécifiques.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230400" y="2229480"/>
            <a:ext cx="246924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5) Embeddings approches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360000" y="2628360"/>
            <a:ext cx="701964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Transformer les connaissances externes en vecteurs numériques.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31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0D8C94C2-8597-448F-B979-4BBB44579787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7CAE74BA-32D7-4260-BADA-65D6ECD01AA3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0" y="252000"/>
            <a:ext cx="2519640" cy="359640"/>
          </a:xfrm>
          <a:prstGeom prst="rect">
            <a:avLst/>
          </a:prstGeom>
          <a:solidFill>
            <a:srgbClr val="90ee9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  <a:ea typeface="DejaVu Sans"/>
              </a:rPr>
              <a:t>Parametric Knowledge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Les approches d’injection de connaissances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3240000" y="540000"/>
            <a:ext cx="3779640" cy="719640"/>
          </a:xfrm>
          <a:prstGeom prst="flowChartPunchedTape">
            <a:avLst/>
          </a:prstGeom>
          <a:solidFill>
            <a:srgbClr val="ff0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fr-FR" sz="1000" spc="-1" strike="noStrike">
                <a:solidFill>
                  <a:srgbClr val="ffffff"/>
                </a:solidFill>
                <a:highlight>
                  <a:srgbClr val="ff0000"/>
                </a:highlight>
                <a:latin typeface="Arial"/>
                <a:ea typeface="DejaVu Sans"/>
              </a:rPr>
              <a:t>Limites des approches paramétriques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180000" y="1440000"/>
            <a:ext cx="6299640" cy="22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lphaLcParenR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Manque d’explicabilité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Les connaissances sont stockées dans les poids du modèle.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On ne peut pas retracer facilement d’où viennent les informations.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lphaLcParenR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Coût élevé pour la mise à jour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Modifier les connaissances intégrées nécessite d’ajuster des poids, couches ou l’architecture.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Très coûteux en temps et ressources computationnelles, surtout pour les très grands modèles.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2700000" y="4730040"/>
            <a:ext cx="2339640" cy="4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000000"/>
                </a:solidFill>
                <a:latin typeface="Arial"/>
              </a:rPr>
              <a:t>Solution alternative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 rot="5400000">
            <a:off x="3240360" y="3780000"/>
            <a:ext cx="899640" cy="89964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9" name=""/>
          <p:cNvSpPr/>
          <p:nvPr/>
        </p:nvSpPr>
        <p:spPr>
          <a:xfrm>
            <a:off x="5400000" y="4752000"/>
            <a:ext cx="32396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Connaissances non-paramétriques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 rot="16200000">
            <a:off x="4860000" y="4622760"/>
            <a:ext cx="179640" cy="53964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41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42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B93CFD26-ECE9-41E8-A985-72F927CEA7E2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B086B51B-518C-4495-B48B-C1A53973FDA3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0" y="252000"/>
            <a:ext cx="2519640" cy="359640"/>
          </a:xfrm>
          <a:prstGeom prst="rect">
            <a:avLst/>
          </a:prstGeom>
          <a:solidFill>
            <a:srgbClr val="90ee9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  <a:ea typeface="DejaVu Sans"/>
              </a:rPr>
              <a:t>Parametric Knowledge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Les approches d’injection de connaissances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180000" y="720000"/>
            <a:ext cx="7675560" cy="10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Contrairement aux approches paramétriques, on ne modifie pas les poids ni l’architecture du LLM.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Les connaissances sont stockées à l’extérieur du modèle, dans des bases de données, documents, ontologies, ou knowledge graphs.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148680" y="1620000"/>
            <a:ext cx="543096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1) Knowledge Graphs and Ontologies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380160" y="1980000"/>
            <a:ext cx="7899480" cy="13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Les Knowledge Graphs (KGs) et les ontologies représentent des sources externes de connaissances structurées (ex. DBpedia, Wikidata).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Contrairement à l’apprentissage paramétrique, on ne modifie aucun poids du LLM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 modèle reste intact et interroge la base externe pour récupérer des faits et relations pertinents.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380160" y="3229200"/>
            <a:ext cx="8459640" cy="21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Les LLMs hallucinent souvent ou produisent des erreurs factuelles.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Les KGs contiennent des faits précis et structurés (entités + relations).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➡️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En les combinant, on obtient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moins d’hallucinations,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plus de précision factuelle,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plus de transparence et d’explicabilité (on peut tracer la source de l’information).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51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22150753-2052-447B-836F-D35DD7D67484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55A2345E-D3E2-46A9-AD0F-A61891D1691F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0" y="252000"/>
            <a:ext cx="2519640" cy="359640"/>
          </a:xfrm>
          <a:prstGeom prst="rect">
            <a:avLst/>
          </a:prstGeom>
          <a:solidFill>
            <a:srgbClr val="90ee9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  <a:ea typeface="DejaVu Sans"/>
              </a:rPr>
              <a:t>Non-Parametric Knowledge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Les approches d’injection de connaissances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148680" y="720000"/>
            <a:ext cx="543096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1) Retrieval-Augmented Generation (RAG)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311040" y="1161000"/>
            <a:ext cx="8688600" cy="17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Retrieval-Augmented Generation (RAG) est une approche non-paramétrique d’intégration de connaissance qui combine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Un module de récupération d’information (retriever) basé sur des représentations vectorielles (embeddings),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Un modèle génératif (LLM) qui utilise le contexte récupéré pour produire une réponse plus précise et factuelle.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➡️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L’idée clé : ne pas modifier les poids du modèle, mais fournir dynamiquement des connaissances externes dans le prompt au moment de l’inférence.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58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49F646EB-1DCE-45A2-A5CE-6D07E3ADA0B8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843D763F-D6BD-46C3-9C0E-BB68522D5B8B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0" y="252000"/>
            <a:ext cx="2519640" cy="359640"/>
          </a:xfrm>
          <a:prstGeom prst="rect">
            <a:avLst/>
          </a:prstGeom>
          <a:solidFill>
            <a:srgbClr val="90ee9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  <a:ea typeface="DejaVu Sans"/>
              </a:rPr>
              <a:t>Non-Parametric Knowledge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62" name=""/>
          <p:cNvSpPr/>
          <p:nvPr/>
        </p:nvSpPr>
        <p:spPr>
          <a:xfrm>
            <a:off x="180000" y="702720"/>
            <a:ext cx="701964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lphaUcParenR"/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Manque d’explicabilité (Explainability in Knowledge-Augmented LLMs)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354960" y="1076760"/>
            <a:ext cx="9432720" cy="34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Problème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Les LLMs enrichis avec des connaissances externes (RAG, KG, etc.) sont opaques : on ne comprend pas comment la connaissance intégrée influence les décisions.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Difficile de tracer la provenance des faits (citations, sources).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highlight>
                  <a:srgbClr val="008b8b"/>
                </a:highlight>
                <a:latin typeface="Arial"/>
              </a:rPr>
              <a:t> </a:t>
            </a:r>
            <a:r>
              <a:rPr b="1" lang="fr-FR" sz="1200" spc="-1" strike="noStrike">
                <a:solidFill>
                  <a:srgbClr val="000000"/>
                </a:solidFill>
                <a:highlight>
                  <a:srgbClr val="008b8b"/>
                </a:highlight>
                <a:latin typeface="Arial"/>
              </a:rPr>
              <a:t>pistes de recherche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Développer des techniques permettant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d’expliquer comment les connaissances externes influencent la sortie du modèle,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de fournir des citations fiables pour chaque réponse,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d’identifier les biais dans les sources ou les inférences,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de rendre visible le raisonnement du modèle (traçabilité du graphe de raisonnement).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3815280" y="335160"/>
            <a:ext cx="3059640" cy="345600"/>
          </a:xfrm>
          <a:prstGeom prst="flowChartAlternateProcess">
            <a:avLst/>
          </a:prstGeom>
          <a:solidFill>
            <a:srgbClr val="ff0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Problèmes identifiés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66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23E1C00B-B6BE-4B7C-AD41-344D09AE4005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BF5E5FC5-97CB-4544-B78C-280F979886C4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55800" y="0"/>
            <a:ext cx="192384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fffff0"/>
                </a:solidFill>
                <a:latin typeface="Arial"/>
              </a:rPr>
              <a:t>Problèmes identifiés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70" name=""/>
          <p:cNvSpPr/>
          <p:nvPr/>
        </p:nvSpPr>
        <p:spPr>
          <a:xfrm>
            <a:off x="180000" y="702720"/>
            <a:ext cx="701964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lphaUcParenR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B)    Optimizing LLM Fine-tuning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360000" y="1080000"/>
            <a:ext cx="9432720" cy="347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Problème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 fine-tuning reste coûteux et sujet à plusieurs phénomènes indésirables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 modèle surprend ou amplifie les entités rares tout en sous-estimant les entités communes après fine-tuning.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 mécanisme d’attention du modèle accorde un poids excessif à certains tokens, négligeant des informations importantes.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highlight>
                  <a:srgbClr val="008b8b"/>
                </a:highlight>
                <a:latin typeface="Arial"/>
              </a:rPr>
              <a:t> </a:t>
            </a:r>
            <a:r>
              <a:rPr b="1" lang="fr-FR" sz="1200" spc="-1" strike="noStrike">
                <a:solidFill>
                  <a:srgbClr val="000000"/>
                </a:solidFill>
                <a:highlight>
                  <a:srgbClr val="008b8b"/>
                </a:highlight>
                <a:latin typeface="Arial"/>
              </a:rPr>
              <a:t>pistes de recherche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Proposer des méthodes de fine-tuning plus stables et équilibrées, capables de préserver la distribution naturelle des données.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Développer des approches hybrides combinant fine-tuning sélectif et retrieval dynamique (ex. RAG ou adapters spécialisés).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Réduire les coûts computationnels tout en conservant la fidélité factuelle.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3780000" y="360000"/>
            <a:ext cx="3059640" cy="345600"/>
          </a:xfrm>
          <a:prstGeom prst="flowChartAlternateProcess">
            <a:avLst/>
          </a:prstGeom>
          <a:solidFill>
            <a:srgbClr val="ff0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Problèmes identifiés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74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6D18A50C-4343-4B16-BC1D-AC63F0E73333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D71B996B-382E-4846-AE6E-1EFD5BE68141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56160" y="360"/>
            <a:ext cx="192384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fffff0"/>
                </a:solidFill>
                <a:latin typeface="Arial"/>
              </a:rPr>
              <a:t>Problèmes identifiés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78" name=""/>
          <p:cNvSpPr/>
          <p:nvPr/>
        </p:nvSpPr>
        <p:spPr>
          <a:xfrm>
            <a:off x="180000" y="720000"/>
            <a:ext cx="701964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lphaUcParenR"/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C)   Interactive Knowledge Retrieval and Integration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360000" y="1080000"/>
            <a:ext cx="9432720" cy="39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Problème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Les systèmes RAG ou KG actuels récupèrent la connaissance de manière statique (une seule fois par requête).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Mais les besoins réels nécessitent une intégration dynamique et itérative de la connaissance.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highlight>
                  <a:srgbClr val="008b8b"/>
                </a:highlight>
                <a:latin typeface="Arial"/>
              </a:rPr>
              <a:t> </a:t>
            </a:r>
            <a:r>
              <a:rPr b="1" lang="fr-FR" sz="1200" spc="-1" strike="noStrike">
                <a:solidFill>
                  <a:srgbClr val="000000"/>
                </a:solidFill>
                <a:highlight>
                  <a:srgbClr val="008b8b"/>
                </a:highlight>
                <a:latin typeface="Arial"/>
              </a:rPr>
              <a:t>pistes de recherche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Développer des systèmes d’iNLP (interactive NLP) capables de dialoguer avec plusieurs sources externes (KGs, bases documentaires, APIs…).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Explorer les Knowledge Graphs évolutifs ou dynamiques, capables d’être mis à jour en temps réel.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Intégrer LLMs, Semantic Web technologies (KGs, ontologies) et interaction dynamique pour créer des systèmes adaptatifs.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Exemple : un modèle qui reformule sa requête ou ajuste ses sources selon la réponse partielle reçue.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3780000" y="360000"/>
            <a:ext cx="3059640" cy="345600"/>
          </a:xfrm>
          <a:prstGeom prst="flowChartAlternateProcess">
            <a:avLst/>
          </a:prstGeom>
          <a:solidFill>
            <a:srgbClr val="ff0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Problèmes identifiés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82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75FDF905-2ED1-4E41-B880-F741CF8E6000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4D302EA6-AA14-469C-AFAD-EC7A01F0E812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56160" y="360"/>
            <a:ext cx="192384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fffff0"/>
                </a:solidFill>
                <a:latin typeface="Arial"/>
              </a:rPr>
              <a:t>Problèmes identifiés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86" name=""/>
          <p:cNvSpPr/>
          <p:nvPr/>
        </p:nvSpPr>
        <p:spPr>
          <a:xfrm>
            <a:off x="7560000" y="3060000"/>
            <a:ext cx="215964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Li, et al,2025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88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90BD5DFD-B3A1-4BF6-9FC6-5A37E849ADF9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95EAD97C-63F2-4ED6-9D61-666890E706A3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1440000" y="1620000"/>
            <a:ext cx="7739640" cy="1259640"/>
          </a:xfrm>
          <a:prstGeom prst="rect">
            <a:avLst/>
          </a:prstGeom>
          <a:solidFill>
            <a:srgbClr val="0070c0"/>
          </a:solidFill>
          <a:ln w="12600">
            <a:solidFill>
              <a:srgbClr val="18a30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 defTabSz="6584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fr-FR" sz="1800" spc="-1" strike="noStrike">
                <a:solidFill>
                  <a:srgbClr val="fffff0"/>
                </a:solidFill>
                <a:latin typeface="Cambria"/>
                <a:ea typeface="Arial"/>
              </a:rPr>
              <a:t>Injecting Structured Knowledge into LLMs via Graph Neural Networks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92" name=""/>
          <p:cNvSpPr/>
          <p:nvPr/>
        </p:nvSpPr>
        <p:spPr>
          <a:xfrm>
            <a:off x="116280" y="288360"/>
            <a:ext cx="294336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Contexte général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180000" y="720000"/>
            <a:ext cx="9719640" cy="92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Les grands modèles de langage (LLMs)  comme GPT-3, BERT ont transformé le traitement du langage naturel (NLP).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Ils sont capables de comprendre et de générer du texte avec un haut niveau de cohérence, mais ils ont une limite importante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720000" y="1377720"/>
            <a:ext cx="917964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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Ils ne capturent pas explicitement les structures linguistiques (comme les dépendances syntaxiques, les relations sémantiques) ni les connaissances du monde (commonsense, faits, graphes de connaissances).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522360" y="2628360"/>
            <a:ext cx="6677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 papier propose une méthode hybride pour injecter des connaissances structurées dans les LLMs, en combinant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180000" y="2340000"/>
            <a:ext cx="116172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But du papier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540000" y="3141360"/>
            <a:ext cx="8998200" cy="87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000000"/>
                </a:solidFill>
                <a:latin typeface="Arial"/>
              </a:rPr>
              <a:t>LLMs,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qui fournissent une représentation contextuelle riche du texte (non structurée, issue du transformer),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000000"/>
                </a:solidFill>
                <a:latin typeface="Arial"/>
              </a:rPr>
              <a:t>Graph Neural Networks (GNNs),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qui encodent les relations structurées issues de graphes.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0" y="4320000"/>
            <a:ext cx="359640" cy="35964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99" name=""/>
          <p:cNvSpPr/>
          <p:nvPr/>
        </p:nvSpPr>
        <p:spPr>
          <a:xfrm>
            <a:off x="900000" y="4140000"/>
            <a:ext cx="7199640" cy="662400"/>
          </a:xfrm>
          <a:prstGeom prst="roundRect">
            <a:avLst>
              <a:gd name="adj" fmla="val 16667"/>
            </a:avLst>
          </a:prstGeom>
          <a:solidFill>
            <a:srgbClr val="ff1493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Créer  un modèle qui fusionne les représentations contextuelles et structurées afin d’améliorer la performance, l’interprétabilité et la robustesse des LLMs dans des tâches complexes.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01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E225A6B2-7987-4CA0-AEB7-8E5628D0987A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0CBBEF76-714C-4E59-A4BF-E4FA065BC364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>
            <a:off x="0" y="0"/>
            <a:ext cx="141624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fffff0"/>
                </a:solidFill>
                <a:latin typeface="Arial"/>
              </a:rPr>
              <a:t>Contexte général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05" name=""/>
          <p:cNvSpPr/>
          <p:nvPr/>
        </p:nvSpPr>
        <p:spPr>
          <a:xfrm>
            <a:off x="180000" y="360000"/>
            <a:ext cx="3059640" cy="4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Méthodologie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"/>
          <p:cNvSpPr/>
          <p:nvPr/>
        </p:nvSpPr>
        <p:spPr>
          <a:xfrm>
            <a:off x="3060000" y="900000"/>
            <a:ext cx="3959640" cy="35964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architecture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1260000" y="1980000"/>
            <a:ext cx="377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  <a:ea typeface="DejaVu Sans"/>
              </a:rPr>
              <a:t>Encodage du texte (Text Encoder) — via le LLM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"/>
          <p:cNvSpPr/>
          <p:nvPr/>
        </p:nvSpPr>
        <p:spPr>
          <a:xfrm>
            <a:off x="5400000" y="1980000"/>
            <a:ext cx="377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  <a:ea typeface="DejaVu Sans"/>
              </a:rPr>
              <a:t>Encodage de la structure (Graph Encoder) — via le GNN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"/>
          <p:cNvSpPr/>
          <p:nvPr/>
        </p:nvSpPr>
        <p:spPr>
          <a:xfrm>
            <a:off x="2520000" y="2880000"/>
            <a:ext cx="4859640" cy="71964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  <a:ea typeface="DejaVu Sans"/>
              </a:rPr>
              <a:t>Fusion Layer : Combine les deux représentations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 flipH="1">
            <a:off x="3420000" y="1260000"/>
            <a:ext cx="1440000" cy="720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11" name=""/>
          <p:cNvSpPr/>
          <p:nvPr/>
        </p:nvSpPr>
        <p:spPr>
          <a:xfrm>
            <a:off x="4860000" y="1260000"/>
            <a:ext cx="2340000" cy="720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12" name=""/>
          <p:cNvSpPr/>
          <p:nvPr/>
        </p:nvSpPr>
        <p:spPr>
          <a:xfrm>
            <a:off x="3420000" y="2340000"/>
            <a:ext cx="1620000" cy="540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13" name=""/>
          <p:cNvSpPr/>
          <p:nvPr/>
        </p:nvSpPr>
        <p:spPr>
          <a:xfrm flipH="1">
            <a:off x="5040000" y="2340000"/>
            <a:ext cx="2340000" cy="540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14" name=""/>
          <p:cNvSpPr/>
          <p:nvPr/>
        </p:nvSpPr>
        <p:spPr>
          <a:xfrm>
            <a:off x="4860000" y="2520000"/>
            <a:ext cx="55980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Fusion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16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F84E9488-196C-4A0A-9D56-23054A85B2FD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42BAADF1-F435-45F5-AAA0-7B7CC8224819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19" name=""/>
          <p:cNvSpPr/>
          <p:nvPr/>
        </p:nvSpPr>
        <p:spPr>
          <a:xfrm>
            <a:off x="14040" y="180000"/>
            <a:ext cx="53856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highlight>
                  <a:srgbClr val="d3d3d3"/>
                </a:highlight>
                <a:latin typeface="Arial"/>
              </a:rPr>
              <a:t>Encodage du texte (Text Encoder) — via le LLM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>
            <a:off x="180000" y="525600"/>
            <a:ext cx="971964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L’objectif du Text Encoder est de transformer le texte brut en représentations numériques contextuelles que le modèle peut utiliser pour comprendre le sens des mots dans leur contexte.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>
            <a:off x="360000" y="1980000"/>
            <a:ext cx="491832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Texte d’entrée X : séquence de tokens [x1,x2,...,xn]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2" name="" descr=""/>
          <p:cNvPicPr/>
          <p:nvPr/>
        </p:nvPicPr>
        <p:blipFill>
          <a:blip r:embed="rId1"/>
          <a:stretch/>
        </p:blipFill>
        <p:spPr>
          <a:xfrm>
            <a:off x="182520" y="989640"/>
            <a:ext cx="4857120" cy="990000"/>
          </a:xfrm>
          <a:prstGeom prst="rect">
            <a:avLst/>
          </a:prstGeom>
          <a:ln w="0">
            <a:noFill/>
          </a:ln>
        </p:spPr>
      </p:pic>
      <p:sp>
        <p:nvSpPr>
          <p:cNvPr id="423" name=""/>
          <p:cNvSpPr/>
          <p:nvPr/>
        </p:nvSpPr>
        <p:spPr>
          <a:xfrm>
            <a:off x="360000" y="2448360"/>
            <a:ext cx="467964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θLLM​ : paramètres du LLM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360000" y="3060000"/>
            <a:ext cx="611964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HLLM​=[h1​,h2​,...,hn] : matrice des embeddings contextuels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360000" y="3585960"/>
            <a:ext cx="629964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Arial"/>
              </a:rPr>
              <a:t>ƒLLM : Fonction du modèle de langage (LLM) préentraîné, par exemple BERT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27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A999FEBF-DC91-4A8E-AD09-D47215E3AF8C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3D1119BE-294E-4B46-928C-0A263541D158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360" y="0"/>
            <a:ext cx="141624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fffff0"/>
                </a:solidFill>
                <a:latin typeface="Arial"/>
              </a:rPr>
              <a:t>Contexte général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31" name=""/>
          <p:cNvSpPr/>
          <p:nvPr/>
        </p:nvSpPr>
        <p:spPr>
          <a:xfrm>
            <a:off x="8640" y="224640"/>
            <a:ext cx="539964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highlight>
                  <a:srgbClr val="d3d3d3"/>
                </a:highlight>
                <a:latin typeface="Arial"/>
                <a:ea typeface="Noto Sans CJK SC"/>
              </a:rPr>
              <a:t>Encodage de la structure (Graph Encoder) — via le GNN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2" name="" descr=""/>
          <p:cNvPicPr/>
          <p:nvPr/>
        </p:nvPicPr>
        <p:blipFill>
          <a:blip r:embed="rId1"/>
          <a:stretch/>
        </p:blipFill>
        <p:spPr>
          <a:xfrm>
            <a:off x="5166360" y="360000"/>
            <a:ext cx="4733280" cy="2189880"/>
          </a:xfrm>
          <a:prstGeom prst="rect">
            <a:avLst/>
          </a:prstGeom>
          <a:ln w="0">
            <a:noFill/>
          </a:ln>
        </p:spPr>
      </p:pic>
      <p:sp>
        <p:nvSpPr>
          <p:cNvPr id="433" name=""/>
          <p:cNvSpPr/>
          <p:nvPr/>
        </p:nvSpPr>
        <p:spPr>
          <a:xfrm>
            <a:off x="6866640" y="2700000"/>
            <a:ext cx="159300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Message Passing Layers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"/>
          <p:cNvSpPr/>
          <p:nvPr/>
        </p:nvSpPr>
        <p:spPr>
          <a:xfrm>
            <a:off x="56160" y="540000"/>
            <a:ext cx="480348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L’idée est de faire passer l’information entre les nœuds du graphe pour que chaque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nœud connaisse le contexte de ses voisins.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5" name="" descr=""/>
          <p:cNvPicPr/>
          <p:nvPr/>
        </p:nvPicPr>
        <p:blipFill>
          <a:blip r:embed="rId2"/>
          <a:stretch/>
        </p:blipFill>
        <p:spPr>
          <a:xfrm>
            <a:off x="143640" y="1440000"/>
            <a:ext cx="4716000" cy="1238040"/>
          </a:xfrm>
          <a:prstGeom prst="rect">
            <a:avLst/>
          </a:prstGeom>
          <a:ln w="0">
            <a:noFill/>
          </a:ln>
        </p:spPr>
      </p:pic>
      <p:sp>
        <p:nvSpPr>
          <p:cNvPr id="436" name=""/>
          <p:cNvSpPr/>
          <p:nvPr/>
        </p:nvSpPr>
        <p:spPr>
          <a:xfrm rot="5460000">
            <a:off x="1793520" y="2880360"/>
            <a:ext cx="71964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437" name="" descr=""/>
          <p:cNvPicPr/>
          <p:nvPr/>
        </p:nvPicPr>
        <p:blipFill>
          <a:blip r:embed="rId3"/>
          <a:stretch/>
        </p:blipFill>
        <p:spPr>
          <a:xfrm>
            <a:off x="540000" y="3843000"/>
            <a:ext cx="3504600" cy="656640"/>
          </a:xfrm>
          <a:prstGeom prst="rect">
            <a:avLst/>
          </a:prstGeom>
          <a:ln w="0">
            <a:noFill/>
          </a:ln>
        </p:spPr>
      </p:pic>
      <p:sp>
        <p:nvSpPr>
          <p:cNvPr id="438" name=""/>
          <p:cNvSpPr/>
          <p:nvPr/>
        </p:nvSpPr>
        <p:spPr>
          <a:xfrm>
            <a:off x="2520000" y="3187440"/>
            <a:ext cx="600804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fonction d’agrégation qui Combiner tous les vecteurs des nœuds hi en un seul vecteur global pour représenter tout le graphe.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40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763507BD-BD6F-4827-9A94-59B1E0117572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64A8F814-5299-4A24-AA62-26D24D552A79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"/>
          <p:cNvSpPr/>
          <p:nvPr/>
        </p:nvSpPr>
        <p:spPr>
          <a:xfrm>
            <a:off x="360" y="0"/>
            <a:ext cx="141624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fffff0"/>
                </a:solidFill>
                <a:latin typeface="Arial"/>
              </a:rPr>
              <a:t>Contexte général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44" name=""/>
          <p:cNvSpPr/>
          <p:nvPr/>
        </p:nvSpPr>
        <p:spPr>
          <a:xfrm>
            <a:off x="180000" y="360000"/>
            <a:ext cx="539964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fr-FR" sz="1000" spc="-1" strike="noStrike">
                <a:solidFill>
                  <a:srgbClr val="000000"/>
                </a:solidFill>
                <a:highlight>
                  <a:srgbClr val="d3d3d3"/>
                </a:highlight>
                <a:latin typeface="Arial"/>
                <a:ea typeface="Noto Sans CJK SC"/>
              </a:rPr>
              <a:t>Fusion Layer : Combine les deux représentations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5" name="" descr=""/>
          <p:cNvPicPr/>
          <p:nvPr/>
        </p:nvPicPr>
        <p:blipFill>
          <a:blip r:embed="rId1"/>
          <a:stretch/>
        </p:blipFill>
        <p:spPr>
          <a:xfrm>
            <a:off x="397080" y="720000"/>
            <a:ext cx="3742560" cy="608760"/>
          </a:xfrm>
          <a:prstGeom prst="rect">
            <a:avLst/>
          </a:prstGeom>
          <a:ln w="0">
            <a:noFill/>
          </a:ln>
        </p:spPr>
      </p:pic>
      <p:sp>
        <p:nvSpPr>
          <p:cNvPr id="446" name=""/>
          <p:cNvSpPr/>
          <p:nvPr/>
        </p:nvSpPr>
        <p:spPr>
          <a:xfrm>
            <a:off x="1146240" y="2880000"/>
            <a:ext cx="1733400" cy="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>
            <a:off x="3420000" y="1440000"/>
            <a:ext cx="3419640" cy="53964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fr-FR" sz="1000" spc="-1" strike="noStrike">
                <a:solidFill>
                  <a:srgbClr val="000000"/>
                </a:solidFill>
                <a:latin typeface="Arial"/>
                <a:ea typeface="DejaVu Sans"/>
              </a:rPr>
              <a:t>Trois stratégies de fusion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"/>
          <p:cNvSpPr/>
          <p:nvPr/>
        </p:nvSpPr>
        <p:spPr>
          <a:xfrm>
            <a:off x="1260000" y="2520000"/>
            <a:ext cx="21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  <a:ea typeface="DejaVu Sans"/>
              </a:rPr>
              <a:t>Concaténation de features 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>
            <a:off x="3960000" y="2520000"/>
            <a:ext cx="21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  <a:ea typeface="DejaVu Sans"/>
              </a:rPr>
              <a:t>Fusion basée sur l’attention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6660000" y="2520000"/>
            <a:ext cx="21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  <a:ea typeface="DejaVu Sans"/>
              </a:rPr>
              <a:t>Connexions résiduelles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 flipH="1">
            <a:off x="2340000" y="1980000"/>
            <a:ext cx="2700000" cy="540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2" name=""/>
          <p:cNvSpPr/>
          <p:nvPr/>
        </p:nvSpPr>
        <p:spPr>
          <a:xfrm>
            <a:off x="5040000" y="1980000"/>
            <a:ext cx="180000" cy="540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3" name=""/>
          <p:cNvSpPr/>
          <p:nvPr/>
        </p:nvSpPr>
        <p:spPr>
          <a:xfrm>
            <a:off x="5040000" y="1980000"/>
            <a:ext cx="2700000" cy="540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4" name=""/>
          <p:cNvSpPr/>
          <p:nvPr/>
        </p:nvSpPr>
        <p:spPr>
          <a:xfrm>
            <a:off x="0" y="3600000"/>
            <a:ext cx="467964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Stratégie d’entraînement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"/>
          <p:cNvSpPr/>
          <p:nvPr/>
        </p:nvSpPr>
        <p:spPr>
          <a:xfrm>
            <a:off x="141120" y="3960000"/>
            <a:ext cx="9758520" cy="13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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LLM (Large Language Model) : entraîné pour des tâches liées au texte, comme la classification, le résumé ou la question-réponse.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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GNN (Graph Neural Network) : entraîné pour comprendre la structure du graphe et prédire les arêtes manquantes (relations entre les nœuds).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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Fusion : combine les sorties du LLM et du GNN pour produire une prédiction finale plus précise.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57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DB4D5DB7-1FCC-463E-8B29-5D672EF3A75E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3B9C5CA7-7D7B-48B5-8C1D-3A086118027D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"/>
          <p:cNvSpPr/>
          <p:nvPr/>
        </p:nvSpPr>
        <p:spPr>
          <a:xfrm>
            <a:off x="360" y="0"/>
            <a:ext cx="141624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fffff0"/>
                </a:solidFill>
                <a:latin typeface="Arial"/>
              </a:rPr>
              <a:t>Contexte général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61" name=""/>
          <p:cNvSpPr/>
          <p:nvPr/>
        </p:nvSpPr>
        <p:spPr>
          <a:xfrm>
            <a:off x="0" y="180000"/>
            <a:ext cx="219924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Expérimentations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"/>
          <p:cNvSpPr/>
          <p:nvPr/>
        </p:nvSpPr>
        <p:spPr>
          <a:xfrm>
            <a:off x="0" y="720000"/>
            <a:ext cx="110088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Datasets utilisés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63" name=""/>
          <p:cNvGraphicFramePr/>
          <p:nvPr/>
        </p:nvGraphicFramePr>
        <p:xfrm>
          <a:off x="3240" y="1305000"/>
          <a:ext cx="9611280" cy="2853000"/>
        </p:xfrm>
        <a:graphic>
          <a:graphicData uri="http://schemas.openxmlformats.org/drawingml/2006/table">
            <a:tbl>
              <a:tblPr/>
              <a:tblGrid>
                <a:gridCol w="2308680"/>
                <a:gridCol w="2861640"/>
                <a:gridCol w="4441320"/>
              </a:tblGrid>
              <a:tr h="346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Dataset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Type de données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Objectif du modèle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AMR Bank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Graphes sémantiques représentant le sens des phrases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Génération d’AMR : le GNN encode les graphes, le LLM encode les phrases, le modèle fusionné prédit des graphes pour de nouvelles phrases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HotpotQA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Questions nécessitant plusieurs documents pour répondre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Multi-hop QA : le GNN encode le graphe de relations entre documents, le LLM apporte le contexte textuel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CNN/DailyMail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Articles de presse et résumés humains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Résumé de texte : le GNN encode la structure du texte (discourse graph), le LLM génère le résumé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ConceptNet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Knowledge graph avec relations entre concepts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Raisonnement sur le sens commun : le GNN prédit les arêtes manquantes, le LLM apporte du contexte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Universal Dependencies (UD)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Arbres de dépendance syntaxique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Parsing syntaxique : le GNN encode les dépendances, le LLM prédit les structures syntaxiques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64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65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0302CCC9-948C-49BB-8EA9-A25AEBDA5613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FA3ECDF3-E8E2-4610-9ABA-E86EBBEF2530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>
            <a:off x="360" y="0"/>
            <a:ext cx="233928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fr-FR" sz="1000" spc="-1" strike="noStrike">
                <a:solidFill>
                  <a:srgbClr val="fffff0"/>
                </a:solidFill>
                <a:latin typeface="Arial"/>
              </a:rPr>
              <a:t>Expérimentations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69" name=""/>
          <p:cNvSpPr/>
          <p:nvPr/>
        </p:nvSpPr>
        <p:spPr>
          <a:xfrm>
            <a:off x="0" y="180000"/>
            <a:ext cx="219924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Expérimentations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180000" y="525960"/>
            <a:ext cx="344088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Baselines pour comparaison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>
            <a:off x="42120" y="801000"/>
            <a:ext cx="5357520" cy="17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romanUcPeriod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Pure LLM : juste le LLM entraîné seul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romanUcPeriod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GNN-Only : juste le GNN sur les graphes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romanUcPeriod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Concatenated Features : LLM + GNN combinés simplement en concaténant les embeddings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romanUcPeriod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SOTA : modèles existants spécifiquement conçus pour la tâche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180000" y="2160000"/>
            <a:ext cx="250632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Résultats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3" name="" descr=""/>
          <p:cNvPicPr/>
          <p:nvPr/>
        </p:nvPicPr>
        <p:blipFill>
          <a:blip r:embed="rId1"/>
          <a:stretch/>
        </p:blipFill>
        <p:spPr>
          <a:xfrm>
            <a:off x="4140000" y="2822040"/>
            <a:ext cx="5219640" cy="2577600"/>
          </a:xfrm>
          <a:prstGeom prst="rect">
            <a:avLst/>
          </a:prstGeom>
          <a:ln w="0">
            <a:noFill/>
          </a:ln>
        </p:spPr>
      </p:pic>
      <p:sp>
        <p:nvSpPr>
          <p:cNvPr id="474" name=""/>
          <p:cNvSpPr/>
          <p:nvPr/>
        </p:nvSpPr>
        <p:spPr>
          <a:xfrm>
            <a:off x="360000" y="2591640"/>
            <a:ext cx="647964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Semantic Parsing (AMR Generation)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76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27B0226C-4E4F-44B1-84DA-74209DF1A7D7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CF4F2F1A-5CEB-4A15-BC53-52E08B815962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720" y="360"/>
            <a:ext cx="233928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fr-FR" sz="1000" spc="-1" strike="noStrike">
                <a:solidFill>
                  <a:srgbClr val="fffff0"/>
                </a:solidFill>
                <a:latin typeface="Arial"/>
              </a:rPr>
              <a:t>Expérimentations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80" name=""/>
          <p:cNvSpPr/>
          <p:nvPr/>
        </p:nvSpPr>
        <p:spPr>
          <a:xfrm>
            <a:off x="0" y="180000"/>
            <a:ext cx="219924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Expérimentations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193320" y="468360"/>
            <a:ext cx="250632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Résultats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"/>
          <p:cNvSpPr/>
          <p:nvPr/>
        </p:nvSpPr>
        <p:spPr>
          <a:xfrm>
            <a:off x="0" y="900000"/>
            <a:ext cx="719964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2) Multi-Hop Question Answering(HotpotQA)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3" name="" descr=""/>
          <p:cNvPicPr/>
          <p:nvPr/>
        </p:nvPicPr>
        <p:blipFill>
          <a:blip r:embed="rId1"/>
          <a:stretch/>
        </p:blipFill>
        <p:spPr>
          <a:xfrm>
            <a:off x="659520" y="1502640"/>
            <a:ext cx="6000120" cy="3247200"/>
          </a:xfrm>
          <a:prstGeom prst="rect">
            <a:avLst/>
          </a:prstGeom>
          <a:ln w="0">
            <a:noFill/>
          </a:ln>
        </p:spPr>
      </p:pic>
      <p:sp>
        <p:nvSpPr>
          <p:cNvPr id="484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85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BCD87A79-A690-466A-8D79-D9DB0CA5BAE1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4451AB9A-D3F9-40FB-8D95-2A8B26CAB10C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>
            <a:off x="720" y="360"/>
            <a:ext cx="233928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fr-FR" sz="1000" spc="-1" strike="noStrike">
                <a:solidFill>
                  <a:srgbClr val="fffff0"/>
                </a:solidFill>
                <a:latin typeface="Arial"/>
              </a:rPr>
              <a:t>Expérimentations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89" name=""/>
          <p:cNvSpPr/>
          <p:nvPr/>
        </p:nvSpPr>
        <p:spPr>
          <a:xfrm>
            <a:off x="0" y="180000"/>
            <a:ext cx="219924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Expérimentations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"/>
          <p:cNvSpPr/>
          <p:nvPr/>
        </p:nvSpPr>
        <p:spPr>
          <a:xfrm>
            <a:off x="193320" y="468360"/>
            <a:ext cx="250632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Résultats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"/>
          <p:cNvSpPr/>
          <p:nvPr/>
        </p:nvSpPr>
        <p:spPr>
          <a:xfrm>
            <a:off x="0" y="900000"/>
            <a:ext cx="719964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3) Text Summarization (CNN/DailyMail)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2" name="" descr=""/>
          <p:cNvPicPr/>
          <p:nvPr/>
        </p:nvPicPr>
        <p:blipFill>
          <a:blip r:embed="rId1"/>
          <a:stretch/>
        </p:blipFill>
        <p:spPr>
          <a:xfrm>
            <a:off x="1260000" y="1260000"/>
            <a:ext cx="6119640" cy="4022280"/>
          </a:xfrm>
          <a:prstGeom prst="rect">
            <a:avLst/>
          </a:prstGeom>
          <a:ln w="0">
            <a:noFill/>
          </a:ln>
        </p:spPr>
      </p:pic>
      <p:sp>
        <p:nvSpPr>
          <p:cNvPr id="493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94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0A724993-71A6-4236-A92D-82C685E90F68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95A7DCDC-DD35-41E0-A6C7-92687394617D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>
            <a:off x="720" y="360"/>
            <a:ext cx="233928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fr-FR" sz="1000" spc="-1" strike="noStrike">
                <a:solidFill>
                  <a:srgbClr val="fffff0"/>
                </a:solidFill>
                <a:latin typeface="Arial"/>
              </a:rPr>
              <a:t>Expérimentations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98" name=""/>
          <p:cNvSpPr/>
          <p:nvPr/>
        </p:nvSpPr>
        <p:spPr>
          <a:xfrm>
            <a:off x="0" y="180000"/>
            <a:ext cx="219924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Expérimentations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"/>
          <p:cNvSpPr/>
          <p:nvPr/>
        </p:nvSpPr>
        <p:spPr>
          <a:xfrm>
            <a:off x="193320" y="468360"/>
            <a:ext cx="250632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Résultats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"/>
          <p:cNvSpPr/>
          <p:nvPr/>
        </p:nvSpPr>
        <p:spPr>
          <a:xfrm>
            <a:off x="0" y="900000"/>
            <a:ext cx="719964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4) Commonsense Reasoning (ConceptNet)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1" name="" descr=""/>
          <p:cNvPicPr/>
          <p:nvPr/>
        </p:nvPicPr>
        <p:blipFill>
          <a:blip r:embed="rId1"/>
          <a:stretch/>
        </p:blipFill>
        <p:spPr>
          <a:xfrm>
            <a:off x="878760" y="1502640"/>
            <a:ext cx="5780880" cy="3256920"/>
          </a:xfrm>
          <a:prstGeom prst="rect">
            <a:avLst/>
          </a:prstGeom>
          <a:ln w="0">
            <a:noFill/>
          </a:ln>
        </p:spPr>
      </p:pic>
      <p:sp>
        <p:nvSpPr>
          <p:cNvPr id="502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03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7576C7C7-7C31-4A8B-A838-C658E02A37E1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6E39D4E1-061C-4B41-8754-2BDFF6E1E70D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>
            <a:off x="720" y="360"/>
            <a:ext cx="233928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fr-FR" sz="1000" spc="-1" strike="noStrike">
                <a:solidFill>
                  <a:srgbClr val="fffff0"/>
                </a:solidFill>
                <a:latin typeface="Arial"/>
              </a:rPr>
              <a:t>Expérimentations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07" name=""/>
          <p:cNvSpPr/>
          <p:nvPr/>
        </p:nvSpPr>
        <p:spPr>
          <a:xfrm>
            <a:off x="0" y="180000"/>
            <a:ext cx="219924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Expérimentations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"/>
          <p:cNvSpPr/>
          <p:nvPr/>
        </p:nvSpPr>
        <p:spPr>
          <a:xfrm>
            <a:off x="193320" y="468360"/>
            <a:ext cx="250632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Résultats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"/>
          <p:cNvSpPr/>
          <p:nvPr/>
        </p:nvSpPr>
        <p:spPr>
          <a:xfrm>
            <a:off x="0" y="900000"/>
            <a:ext cx="719964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5) Dependency Parsing (Universal Dependencies)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0" name="" descr=""/>
          <p:cNvPicPr/>
          <p:nvPr/>
        </p:nvPicPr>
        <p:blipFill>
          <a:blip r:embed="rId1"/>
          <a:stretch/>
        </p:blipFill>
        <p:spPr>
          <a:xfrm>
            <a:off x="1238760" y="1602720"/>
            <a:ext cx="5780880" cy="3256920"/>
          </a:xfrm>
          <a:prstGeom prst="rect">
            <a:avLst/>
          </a:prstGeom>
          <a:ln w="0">
            <a:noFill/>
          </a:ln>
        </p:spPr>
      </p:pic>
      <p:sp>
        <p:nvSpPr>
          <p:cNvPr id="511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12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320D85D1-9E72-4FDA-8485-B7945D910E97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328A5A01-ACCC-4527-9EC4-3C62279C496B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"/>
          <p:cNvSpPr/>
          <p:nvPr/>
        </p:nvSpPr>
        <p:spPr>
          <a:xfrm>
            <a:off x="720" y="360"/>
            <a:ext cx="233928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fr-FR" sz="1000" spc="-1" strike="noStrike">
                <a:solidFill>
                  <a:srgbClr val="fffff0"/>
                </a:solidFill>
                <a:latin typeface="Arial"/>
              </a:rPr>
              <a:t>Expérimentations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"/>
          <p:cNvSpPr/>
          <p:nvPr/>
        </p:nvSpPr>
        <p:spPr>
          <a:xfrm>
            <a:off x="0" y="0"/>
            <a:ext cx="10079640" cy="17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16" name=""/>
          <p:cNvSpPr/>
          <p:nvPr/>
        </p:nvSpPr>
        <p:spPr>
          <a:xfrm>
            <a:off x="0" y="180000"/>
            <a:ext cx="9359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000000"/>
                </a:solidFill>
                <a:latin typeface="Arial"/>
              </a:rPr>
              <a:t>Comment différents hyperparamètres affectent les performances de  modèle hybride LLM + GNN ?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"/>
          <p:cNvSpPr/>
          <p:nvPr/>
        </p:nvSpPr>
        <p:spPr>
          <a:xfrm>
            <a:off x="180000" y="720000"/>
            <a:ext cx="8279640" cy="26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000000"/>
                </a:solidFill>
                <a:latin typeface="Arial"/>
              </a:rPr>
              <a:t>Nombre de couches GNN :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Plus il y a de couches → meilleur apprentissage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Trop de couches (&gt;3) → surapprentissage → moins efficace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000000"/>
                </a:solidFill>
                <a:latin typeface="Arial"/>
              </a:rPr>
              <a:t>Taille des embeddings LLM :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Embeddings plus grands → meilleure compréhension du texte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Trop grands (&gt;1024) → pas beaucoup de gain + plus coûteux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"/>
          <p:cNvSpPr/>
          <p:nvPr/>
        </p:nvSpPr>
        <p:spPr>
          <a:xfrm>
            <a:off x="720000" y="3600000"/>
            <a:ext cx="7019640" cy="359640"/>
          </a:xfrm>
          <a:prstGeom prst="roundRect">
            <a:avLst>
              <a:gd name="adj" fmla="val 16667"/>
            </a:avLst>
          </a:prstGeom>
          <a:solidFill>
            <a:srgbClr val="ff69b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000000"/>
                </a:solidFill>
                <a:latin typeface="Arial"/>
                <a:ea typeface="DejaVu Sans"/>
              </a:rPr>
              <a:t>Il faut un  équilibre entre profondeur du GNN et la taille des embeddings.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"/>
          <p:cNvSpPr/>
          <p:nvPr/>
        </p:nvSpPr>
        <p:spPr>
          <a:xfrm>
            <a:off x="180000" y="3600000"/>
            <a:ext cx="359640" cy="35964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20" name=""/>
          <p:cNvSpPr/>
          <p:nvPr/>
        </p:nvSpPr>
        <p:spPr>
          <a:xfrm>
            <a:off x="0" y="5431680"/>
            <a:ext cx="10079640" cy="269640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21" name=""/>
          <p:cNvSpPr/>
          <p:nvPr/>
        </p:nvSpPr>
        <p:spPr>
          <a:xfrm>
            <a:off x="9540000" y="5359680"/>
            <a:ext cx="53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fld id="{A48F24DB-2573-4DFD-A08F-277B73E0F5AA}" type="slidenum">
              <a:rPr b="0" lang="fr-FR" sz="1200" spc="-1" strike="noStrike">
                <a:solidFill>
                  <a:srgbClr val="fffff0"/>
                </a:solidFill>
                <a:latin typeface="Arial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"/>
          <p:cNvSpPr/>
          <p:nvPr/>
        </p:nvSpPr>
        <p:spPr>
          <a:xfrm>
            <a:off x="0" y="543168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0"/>
                </a:solidFill>
                <a:latin typeface="Arial"/>
              </a:rPr>
              <a:t> </a:t>
            </a:r>
            <a:fld id="{B544397C-16C2-46CF-AD9E-87061DD1DBF6}" type="datetime">
              <a:rPr b="0" lang="fr-FR" sz="1200" spc="-1" strike="noStrike">
                <a:solidFill>
                  <a:srgbClr val="fffff0"/>
                </a:solidFill>
                <a:latin typeface="Arial"/>
              </a:rPr>
              <a:t>05/11/2025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>
            <a:off x="720" y="360"/>
            <a:ext cx="233928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fr-FR" sz="1000" spc="-1" strike="noStrike">
                <a:solidFill>
                  <a:srgbClr val="fffff0"/>
                </a:solidFill>
                <a:latin typeface="Arial"/>
              </a:rPr>
              <a:t>Expérimentations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1805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2025-10-23T11:49:47Z</dcterms:created>
  <dc:creator/>
  <dc:description/>
  <dc:language>fr-FR</dc:language>
  <cp:lastModifiedBy/>
  <dcterms:modified xsi:type="dcterms:W3CDTF">2025-11-06T10:10:19Z</dcterms:modified>
  <cp:revision>97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