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80" r:id="rId3"/>
    <p:sldId id="281" r:id="rId4"/>
    <p:sldId id="296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BF5"/>
          </a:solidFill>
        </a:fill>
      </a:tcStyle>
    </a:wholeTbl>
    <a:band1H>
      <a:tcStyle>
        <a:tcBdr/>
        <a:fill>
          <a:solidFill>
            <a:srgbClr val="CFD5EA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5EA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472C4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472C4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472C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/>
          <p:cNvSpPr txBox="1">
            <a:spLocks noGrp="1"/>
          </p:cNvSpPr>
          <p:nvPr>
            <p:ph type="dt" idx="1"/>
          </p:nvPr>
        </p:nvSpPr>
        <p:spPr>
          <a:xfrm>
            <a:off x="4281485" y="0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5FBC0C90-12EB-4881-8234-524F0BDF9795}" type="datetime1">
              <a:rPr lang="en-US"/>
              <a:pPr lvl="0"/>
              <a:t>11/13/2025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3091" y="1336679"/>
            <a:ext cx="6413501" cy="3608386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/>
          <p:cNvSpPr txBox="1">
            <a:spLocks noGrp="1"/>
          </p:cNvSpPr>
          <p:nvPr>
            <p:ph type="body" sz="quarter" idx="3"/>
          </p:nvPr>
        </p:nvSpPr>
        <p:spPr>
          <a:xfrm>
            <a:off x="755651" y="5145091"/>
            <a:ext cx="6048371" cy="421005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 txBox="1">
            <a:spLocks noGrp="1"/>
          </p:cNvSpPr>
          <p:nvPr>
            <p:ph type="ftr" sz="quarter" idx="4"/>
          </p:nvPr>
        </p:nvSpPr>
        <p:spPr>
          <a:xfrm>
            <a:off x="0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/>
          <p:cNvSpPr txBox="1">
            <a:spLocks noGrp="1"/>
          </p:cNvSpPr>
          <p:nvPr>
            <p:ph type="sldNum" sz="quarter" idx="5"/>
          </p:nvPr>
        </p:nvSpPr>
        <p:spPr>
          <a:xfrm>
            <a:off x="4281485" y="10155234"/>
            <a:ext cx="3276596" cy="53657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4479370B-8A0B-49AC-9459-14A64EC75F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67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 noGrp="1"/>
          </p:cNvSpPr>
          <p:nvPr>
            <p:ph type="ctr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PlaceHolder 2"/>
          <p:cNvSpPr txBox="1">
            <a:spLocks noGrp="1"/>
          </p:cNvSpPr>
          <p:nvPr>
            <p:ph type="subTitle" idx="1"/>
          </p:nvPr>
        </p:nvSpPr>
        <p:spPr/>
        <p:txBody>
          <a:bodyPr anchor="ctr" anchorCtr="1">
            <a:noAutofit/>
          </a:bodyPr>
          <a:lstStyle>
            <a:lvl1pPr marL="228600" indent="0" algn="ctr">
              <a:spcBef>
                <a:spcPts val="1000"/>
              </a:spcBef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4" name="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</a:t>
            </a:r>
          </a:p>
        </p:txBody>
      </p:sp>
      <p:sp>
        <p:nvSpPr>
          <p:cNvPr id="5" name="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310A45C-FE3F-46C9-A2A2-598E30E9AEF6}" type="slidenum">
              <a:t>‹#›</a:t>
            </a:fld>
            <a:endParaRPr lang="fr-FR"/>
          </a:p>
        </p:txBody>
      </p:sp>
      <p:sp>
        <p:nvSpPr>
          <p:cNvPr id="6" name="PlaceHolder 5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9098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3" name="PlaceHolder 2"/>
          <p:cNvSpPr txBox="1">
            <a:spLocks noGrp="1"/>
          </p:cNvSpPr>
          <p:nvPr>
            <p:ph idx="4294967295"/>
          </p:nvPr>
        </p:nvSpPr>
        <p:spPr/>
        <p:txBody>
          <a:bodyPr/>
          <a:lstStyle>
            <a:lvl1pPr marL="228600" indent="0">
              <a:buNone/>
              <a:defRPr/>
            </a:lvl1pPr>
          </a:lstStyle>
          <a:p>
            <a:pPr lvl="0"/>
            <a:endParaRPr lang="fr-FR"/>
          </a:p>
        </p:txBody>
      </p:sp>
      <p:sp>
        <p:nvSpPr>
          <p:cNvPr id="4" name="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Footer</a:t>
            </a:r>
          </a:p>
        </p:txBody>
      </p:sp>
      <p:sp>
        <p:nvSpPr>
          <p:cNvPr id="5" name="PlaceHolder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C1FFBFA-752F-4037-A646-185D79F4899F}" type="slidenum">
              <a:t>‹#›</a:t>
            </a:fld>
            <a:endParaRPr lang="fr-FR"/>
          </a:p>
        </p:txBody>
      </p:sp>
      <p:sp>
        <p:nvSpPr>
          <p:cNvPr id="6" name="PlaceHolder 5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6244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 txBox="1">
            <a:spLocks noGrp="1"/>
          </p:cNvSpPr>
          <p:nvPr>
            <p:ph type="title"/>
          </p:nvPr>
        </p:nvSpPr>
        <p:spPr>
          <a:xfrm>
            <a:off x="503998" y="226076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r>
              <a:rPr lang="fr-FR"/>
              <a:t>Click to edit the title text format</a:t>
            </a:r>
          </a:p>
        </p:txBody>
      </p:sp>
      <p:sp>
        <p:nvSpPr>
          <p:cNvPr id="3" name="PlaceHolder 2"/>
          <p:cNvSpPr txBox="1">
            <a:spLocks noGrp="1"/>
          </p:cNvSpPr>
          <p:nvPr>
            <p:ph type="body" idx="1"/>
          </p:nvPr>
        </p:nvSpPr>
        <p:spPr>
          <a:xfrm>
            <a:off x="503998" y="1326602"/>
            <a:ext cx="9071643" cy="328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fr-FR"/>
              <a:t>Click to edit the outline text format</a:t>
            </a:r>
          </a:p>
          <a:p>
            <a:pPr lvl="1"/>
            <a:r>
              <a:rPr lang="fr-FR"/>
              <a:t>Second Outline Level</a:t>
            </a:r>
          </a:p>
          <a:p>
            <a:pPr lvl="2"/>
            <a:r>
              <a:rPr lang="fr-FR"/>
              <a:t>Third Outline Level</a:t>
            </a:r>
          </a:p>
          <a:p>
            <a:pPr lvl="3"/>
            <a:r>
              <a:rPr lang="fr-FR"/>
              <a:t>Fourth Outline Level</a:t>
            </a:r>
          </a:p>
          <a:p>
            <a:pPr lvl="4"/>
            <a:r>
              <a:rPr lang="fr-FR"/>
              <a:t>Fifth Outline Level</a:t>
            </a:r>
          </a:p>
          <a:p>
            <a:pPr lvl="5"/>
            <a:r>
              <a:rPr lang="fr-FR"/>
              <a:t>Sixth Outline Level</a:t>
            </a:r>
          </a:p>
          <a:p>
            <a:pPr lvl="6"/>
            <a:r>
              <a:rPr lang="fr-FR"/>
              <a:t>Seventh Outline Level</a:t>
            </a:r>
          </a:p>
        </p:txBody>
      </p:sp>
      <p:sp>
        <p:nvSpPr>
          <p:cNvPr id="4" name="PlaceHolder 3"/>
          <p:cNvSpPr txBox="1">
            <a:spLocks noGrp="1"/>
          </p:cNvSpPr>
          <p:nvPr>
            <p:ph type="dt" sz="half" idx="2"/>
          </p:nvPr>
        </p:nvSpPr>
        <p:spPr>
          <a:xfrm>
            <a:off x="503998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fr-FR"/>
              <a:t>&lt;date/time&gt;</a:t>
            </a:r>
          </a:p>
        </p:txBody>
      </p:sp>
      <p:sp>
        <p:nvSpPr>
          <p:cNvPr id="5" name="PlaceHolder 4"/>
          <p:cNvSpPr txBox="1">
            <a:spLocks noGrp="1"/>
          </p:cNvSpPr>
          <p:nvPr>
            <p:ph type="ftr" sz="quarter" idx="3"/>
          </p:nvPr>
        </p:nvSpPr>
        <p:spPr>
          <a:xfrm>
            <a:off x="3447361" y="5165281"/>
            <a:ext cx="3194995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r>
              <a:rPr lang="fr-FR"/>
              <a:t>&lt;footer&gt;</a:t>
            </a:r>
          </a:p>
        </p:txBody>
      </p:sp>
      <p:sp>
        <p:nvSpPr>
          <p:cNvPr id="6" name="PlaceHolder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DejaVu Sans"/>
                <a:cs typeface="DejaVu Sans"/>
              </a:defRPr>
            </a:lvl1pPr>
          </a:lstStyle>
          <a:p>
            <a:pPr lvl="0"/>
            <a:fld id="{0732BFB8-21D1-4DFA-9FCD-DE10CEE05A58}" type="slidenum"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ctr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fr-FR" sz="4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</p:titleStyle>
    <p:bodyStyle>
      <a:lvl1pPr marL="431999" marR="0" lvl="0" indent="-323999" algn="l" defTabSz="914400" rtl="0" fontAlgn="auto" hangingPunct="1">
        <a:lnSpc>
          <a:spcPct val="90000"/>
        </a:lnSpc>
        <a:spcBef>
          <a:spcPts val="141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fr-FR" sz="32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1pPr>
      <a:lvl2pPr marL="863998" marR="0" lvl="1" indent="-323999" algn="l" defTabSz="914400" rtl="0" fontAlgn="auto" hangingPunct="1">
        <a:lnSpc>
          <a:spcPct val="90000"/>
        </a:lnSpc>
        <a:spcBef>
          <a:spcPts val="113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fr-FR" sz="28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2pPr>
      <a:lvl3pPr marL="1295997" marR="0" lvl="2" indent="-287999" algn="l" defTabSz="914400" rtl="0" fontAlgn="auto" hangingPunct="1">
        <a:lnSpc>
          <a:spcPct val="90000"/>
        </a:lnSpc>
        <a:spcBef>
          <a:spcPts val="850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fr-FR" sz="24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3pPr>
      <a:lvl4pPr marL="1727996" marR="0" lvl="3" indent="-215999" algn="l" defTabSz="914400" rtl="0" fontAlgn="auto" hangingPunct="1">
        <a:lnSpc>
          <a:spcPct val="90000"/>
        </a:lnSpc>
        <a:spcBef>
          <a:spcPts val="565"/>
        </a:spcBef>
        <a:spcAft>
          <a:spcPts val="0"/>
        </a:spcAft>
        <a:buClr>
          <a:srgbClr val="000000"/>
        </a:buClr>
        <a:buSzPct val="75000"/>
        <a:buFont typeface="Symbol"/>
        <a:buChar char=""/>
        <a:tabLst/>
        <a:defRPr lang="fr-FR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4pPr>
      <a:lvl5pPr marL="2159995" marR="0" lvl="4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fr-FR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5pPr>
      <a:lvl6pPr marL="2592003" marR="0" lvl="5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fr-FR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6pPr>
      <a:lvl7pPr marL="3024003" marR="0" lvl="6" indent="-215999" algn="l" defTabSz="914400" rtl="0" fontAlgn="auto" hangingPunct="1">
        <a:lnSpc>
          <a:spcPct val="90000"/>
        </a:lnSpc>
        <a:spcBef>
          <a:spcPts val="285"/>
        </a:spcBef>
        <a:spcAft>
          <a:spcPts val="0"/>
        </a:spcAft>
        <a:buClr>
          <a:srgbClr val="000000"/>
        </a:buClr>
        <a:buSzPct val="45000"/>
        <a:buFont typeface="Wingdings"/>
        <a:buChar char=""/>
        <a:tabLst/>
        <a:defRPr lang="fr-FR" sz="2000" b="0" i="0" u="none" strike="noStrike" kern="1200" cap="none" spc="-1" baseline="0">
          <a:solidFill>
            <a:srgbClr val="000000"/>
          </a:solidFill>
          <a:uFillTx/>
          <a:latin typeface="Arial"/>
          <a:ea typeface="DejaVu Sans"/>
          <a:cs typeface="DejaVu Sa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9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72B04133-07B2-48A5-9A39-8E6D679FBCA4}" type="slidenum">
              <a:t>1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10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Rectangle 11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Espace réservé du numéro de diapositive 4"/>
          <p:cNvSpPr txBox="1"/>
          <p:nvPr/>
        </p:nvSpPr>
        <p:spPr>
          <a:xfrm>
            <a:off x="8610840" y="6356881"/>
            <a:ext cx="2742843" cy="36468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9BDA30C-F1F7-4870-B73F-EB4058DC6B05}" type="slidenum">
              <a:t>1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11"/>
          <p:cNvSpPr/>
          <p:nvPr/>
        </p:nvSpPr>
        <p:spPr>
          <a:xfrm>
            <a:off x="6504483" y="4191115"/>
            <a:ext cx="3215524" cy="669596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0004" tIns="44997" rIns="90004" bIns="44997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Times New Roman"/>
                <a:cs typeface="DejaVu Sans"/>
              </a:rPr>
              <a:t>Présenté</a:t>
            </a:r>
            <a:r>
              <a:rPr lang="fr-FR" sz="2000" b="0" i="0" u="none" strike="noStrike" kern="1200" cap="none" spc="103" baseline="0">
                <a:solidFill>
                  <a:srgbClr val="000000"/>
                </a:solidFill>
                <a:uFillTx/>
                <a:latin typeface="Times New Roman"/>
                <a:ea typeface="Times New Roman"/>
                <a:cs typeface="DejaVu Sans"/>
              </a:rPr>
              <a:t> </a:t>
            </a:r>
            <a:r>
              <a:rPr lang="fr-FR" sz="20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Times New Roman"/>
                <a:cs typeface="DejaVu Sans"/>
              </a:rPr>
              <a:t>par : </a:t>
            </a:r>
            <a:r>
              <a:rPr lang="fr-FR" sz="20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Jaafer KLILA</a:t>
            </a:r>
            <a:endParaRPr lang="fr-FR" sz="2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109" baseline="0">
                <a:solidFill>
                  <a:srgbClr val="000000"/>
                </a:solidFill>
                <a:uFillTx/>
                <a:latin typeface="Times New Roman"/>
                <a:ea typeface="Times New Roman"/>
                <a:cs typeface="DejaVu Sans"/>
              </a:rPr>
              <a:t> 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8" name="Image 1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8" y="359999"/>
            <a:ext cx="2541236" cy="747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 1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479" y="243358"/>
            <a:ext cx="2342519" cy="47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ZoneTexte 15"/>
          <p:cNvSpPr/>
          <p:nvPr/>
        </p:nvSpPr>
        <p:spPr>
          <a:xfrm>
            <a:off x="2001237" y="635398"/>
            <a:ext cx="6098764" cy="201060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vert="horz" wrap="square" lIns="90004" tIns="44997" rIns="90004" bIns="44997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Ministère de l'Enseignement supérieur et de la Recherche scientifique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****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Université de Sfax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****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Times New Roman"/>
                <a:ea typeface="Arial"/>
                <a:cs typeface="DejaVu Sans"/>
              </a:rPr>
              <a:t>Université Paris-Saclay</a:t>
            </a: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Rectangle : coins arrondis 12"/>
          <p:cNvSpPr/>
          <p:nvPr/>
        </p:nvSpPr>
        <p:spPr>
          <a:xfrm>
            <a:off x="899998" y="2700003"/>
            <a:ext cx="8460001" cy="1168923"/>
          </a:xfrm>
          <a:custGeom>
            <a:avLst>
              <a:gd name="f0" fmla="val 108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0070C0"/>
          </a:solidFill>
          <a:ln w="12600">
            <a:solidFill>
              <a:srgbClr val="18A303"/>
            </a:solidFill>
            <a:prstDash val="solid"/>
            <a:miter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65844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000" b="1" i="0" u="none" strike="noStrike" kern="1200" cap="none" spc="-1" baseline="0">
                <a:solidFill>
                  <a:srgbClr val="FFFFFF"/>
                </a:solidFill>
                <a:uFillTx/>
                <a:latin typeface="Times New Roma"/>
                <a:ea typeface="Arial"/>
                <a:cs typeface="DejaVu Sans"/>
              </a:rPr>
              <a:t>  Knowledge Injection into  Language Models </a:t>
            </a:r>
            <a:endParaRPr lang="fr-FR" sz="20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53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254"/>
          <p:cNvSpPr txBox="1"/>
          <p:nvPr/>
        </p:nvSpPr>
        <p:spPr>
          <a:xfrm>
            <a:off x="7380003" y="3060003"/>
            <a:ext cx="2159995" cy="61560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Yadav et al,2024</a:t>
            </a:r>
          </a:p>
        </p:txBody>
      </p:sp>
      <p:grpSp>
        <p:nvGrpSpPr>
          <p:cNvPr id="4" name="Groupe 255"/>
          <p:cNvGrpSpPr/>
          <p:nvPr/>
        </p:nvGrpSpPr>
        <p:grpSpPr>
          <a:xfrm>
            <a:off x="0" y="5359682"/>
            <a:ext cx="10079998" cy="516956"/>
            <a:chOff x="0" y="5359682"/>
            <a:chExt cx="10079998" cy="516956"/>
          </a:xfrm>
        </p:grpSpPr>
        <p:sp>
          <p:nvSpPr>
            <p:cNvPr id="5" name="Rectangle 256"/>
            <p:cNvSpPr/>
            <p:nvPr/>
          </p:nvSpPr>
          <p:spPr>
            <a:xfrm>
              <a:off x="0" y="5431682"/>
              <a:ext cx="10079998" cy="270004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square" lIns="90004" tIns="44997" rIns="90004" bIns="44997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6" name="ZoneTexte 257"/>
            <p:cNvSpPr txBox="1"/>
            <p:nvPr/>
          </p:nvSpPr>
          <p:spPr>
            <a:xfrm>
              <a:off x="9539999" y="5359682"/>
              <a:ext cx="539998" cy="5169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800" b="0" i="0" u="none" strike="noStrike" kern="1200" cap="none" spc="-1" baseline="0">
                  <a:solidFill>
                    <a:srgbClr val="000000"/>
                  </a:solidFill>
                  <a:uFillTx/>
                  <a:latin typeface="Arial"/>
                  <a:ea typeface="DejaVu Sans"/>
                  <a:cs typeface="DejaVu Sans"/>
                </a:rPr>
                <a:t> </a:t>
              </a:r>
              <a:fld id="{4105BB61-AF2E-4F6B-BFC9-1704875AFF6A}" type="slidenum">
                <a:t>2</a:t>
              </a:fld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7" name="ZoneTexte 258"/>
            <p:cNvSpPr txBox="1"/>
            <p:nvPr/>
          </p:nvSpPr>
          <p:spPr>
            <a:xfrm>
              <a:off x="0" y="5431682"/>
              <a:ext cx="1619996" cy="26099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-1" baseline="0">
                  <a:solidFill>
                    <a:srgbClr val="FFFFF0"/>
                  </a:solidFill>
                  <a:uFillTx/>
                  <a:latin typeface="Arial"/>
                  <a:ea typeface="DejaVu Sans"/>
                  <a:cs typeface="DejaVu Sans"/>
                </a:rPr>
                <a:t> 13/11/2025</a:t>
              </a:r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</p:grpSp>
      <p:sp>
        <p:nvSpPr>
          <p:cNvPr id="8" name="Rectangle 259"/>
          <p:cNvSpPr/>
          <p:nvPr/>
        </p:nvSpPr>
        <p:spPr>
          <a:xfrm>
            <a:off x="1439997" y="1619996"/>
            <a:ext cx="7740002" cy="1259997"/>
          </a:xfrm>
          <a:prstGeom prst="rect">
            <a:avLst/>
          </a:prstGeom>
          <a:solidFill>
            <a:srgbClr val="0070C0"/>
          </a:solidFill>
          <a:ln w="12600">
            <a:solidFill>
              <a:srgbClr val="18A303"/>
            </a:solidFill>
            <a:prstDash val="solid"/>
            <a:miter/>
          </a:ln>
        </p:spPr>
        <p:txBody>
          <a:bodyPr vert="horz" wrap="square" lIns="96121" tIns="51124" rIns="96121" bIns="51124" anchor="ctr" anchorCtr="1" compatLnSpc="1">
            <a:noAutofit/>
          </a:bodyPr>
          <a:lstStyle/>
          <a:p>
            <a:pPr marL="0" marR="0" lvl="0" indent="0" algn="ctr" defTabSz="65844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-1" baseline="0">
                <a:solidFill>
                  <a:srgbClr val="FFFFF0"/>
                </a:solidFill>
                <a:uFillTx/>
                <a:latin typeface="Cambria"/>
                <a:ea typeface="Arial"/>
                <a:cs typeface="DejaVu Sans"/>
              </a:rPr>
              <a:t>External Knowledge Integration in Large</a:t>
            </a: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65844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-1" baseline="0">
                <a:solidFill>
                  <a:srgbClr val="FFFFF0"/>
                </a:solidFill>
                <a:uFillTx/>
                <a:latin typeface="Cambria"/>
                <a:ea typeface="Arial"/>
                <a:cs typeface="DejaVu Sans"/>
              </a:rPr>
              <a:t>Language Models: A Survey on Methods,</a:t>
            </a: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65844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1" i="0" u="none" strike="noStrike" kern="1200" cap="none" spc="-1" baseline="0">
                <a:solidFill>
                  <a:srgbClr val="FFFFF0"/>
                </a:solidFill>
                <a:uFillTx/>
                <a:latin typeface="Cambria"/>
                <a:ea typeface="Arial"/>
                <a:cs typeface="DejaVu Sans"/>
              </a:rPr>
              <a:t>Challenges, and Future Directions</a:t>
            </a: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graphicFrame>
        <p:nvGraphicFramePr>
          <p:cNvPr id="9" name="Tableau 2"/>
          <p:cNvGraphicFramePr>
            <a:graphicFrameLocks noGrp="1"/>
          </p:cNvGraphicFramePr>
          <p:nvPr/>
        </p:nvGraphicFramePr>
        <p:xfrm>
          <a:off x="2493861" y="3732800"/>
          <a:ext cx="4192743" cy="936052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2100449">
                  <a:extLst>
                    <a:ext uri="{9D8B030D-6E8A-4147-A177-3AD203B41FA5}">
                      <a16:colId xmlns:a16="http://schemas.microsoft.com/office/drawing/2014/main" val="2983270979"/>
                    </a:ext>
                  </a:extLst>
                </a:gridCol>
                <a:gridCol w="1046146">
                  <a:extLst>
                    <a:ext uri="{9D8B030D-6E8A-4147-A177-3AD203B41FA5}">
                      <a16:colId xmlns:a16="http://schemas.microsoft.com/office/drawing/2014/main" val="2909793232"/>
                    </a:ext>
                  </a:extLst>
                </a:gridCol>
                <a:gridCol w="1046146">
                  <a:extLst>
                    <a:ext uri="{9D8B030D-6E8A-4147-A177-3AD203B41FA5}">
                      <a16:colId xmlns:a16="http://schemas.microsoft.com/office/drawing/2014/main" val="3437124118"/>
                    </a:ext>
                  </a:extLst>
                </a:gridCol>
              </a:tblGrid>
              <a:tr h="311216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 i="0" cap="all">
                          <a:solidFill>
                            <a:srgbClr val="323232"/>
                          </a:solidFill>
                          <a:latin typeface="Roboto"/>
                        </a:rPr>
                        <a:t>Publication type</a:t>
                      </a:r>
                      <a:endParaRPr lang="fr-FR"/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fr-FR" sz="1100" b="1" i="0" kern="1200" cap="all">
                          <a:solidFill>
                            <a:srgbClr val="323232"/>
                          </a:solidFill>
                          <a:latin typeface="Roboto"/>
                          <a:ea typeface="DejaVu Sans"/>
                          <a:cs typeface="DejaVu Sans"/>
                        </a:rPr>
                        <a:t>Quartiles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52656"/>
                  </a:ext>
                </a:extLst>
              </a:tr>
              <a:tr h="155603"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200" b="0" i="0" u="none" strike="noStrike">
                          <a:solidFill>
                            <a:srgbClr val="000000"/>
                          </a:solidFill>
                          <a:latin typeface="Roboto"/>
                        </a:rPr>
                        <a:t>Journal</a:t>
                      </a:r>
                      <a:r>
                        <a:rPr lang="fr-FR" sz="1200" b="0" i="0" u="none" strike="noStrike" kern="1200">
                          <a:solidFill>
                            <a:srgbClr val="000000"/>
                          </a:solidFill>
                          <a:latin typeface="Roboto"/>
                          <a:ea typeface="DejaVu Sans"/>
                          <a:cs typeface="DejaVu Sans"/>
                        </a:rPr>
                        <a:t>s(Semantic Web)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auto">
                        <a:buNone/>
                      </a:pPr>
                      <a:r>
                        <a:rPr lang="fr-FR"/>
                        <a:t>2021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2024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8217941"/>
                  </a:ext>
                </a:extLst>
              </a:tr>
              <a:tr h="1556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Q1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/>
                        <a:t>Q2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299787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261"/>
          <p:cNvSpPr txBox="1"/>
          <p:nvPr/>
        </p:nvSpPr>
        <p:spPr>
          <a:xfrm>
            <a:off x="3401" y="359999"/>
            <a:ext cx="2316650" cy="2613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Contexte général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262"/>
          <p:cNvSpPr txBox="1"/>
          <p:nvPr/>
        </p:nvSpPr>
        <p:spPr>
          <a:xfrm>
            <a:off x="448924" y="4172818"/>
            <a:ext cx="9038990" cy="111419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grands modèles de langage (LLMs)  comme GPT, LLaMA sont très performants pour comprendre et générer du texte.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Mais lorsqu’on les utilise dans des domaines très spécialisés (comme la médecine, la finance, le droit, ou la recherche scientifique), ils montrent certaines limites importantes .</a:t>
            </a:r>
          </a:p>
        </p:txBody>
      </p:sp>
      <p:grpSp>
        <p:nvGrpSpPr>
          <p:cNvPr id="5" name="Groupe 266"/>
          <p:cNvGrpSpPr/>
          <p:nvPr/>
        </p:nvGrpSpPr>
        <p:grpSpPr>
          <a:xfrm>
            <a:off x="0" y="5359682"/>
            <a:ext cx="10079998" cy="516956"/>
            <a:chOff x="0" y="5359682"/>
            <a:chExt cx="10079998" cy="516956"/>
          </a:xfrm>
        </p:grpSpPr>
        <p:sp>
          <p:nvSpPr>
            <p:cNvPr id="6" name="Rectangle 267"/>
            <p:cNvSpPr/>
            <p:nvPr/>
          </p:nvSpPr>
          <p:spPr>
            <a:xfrm>
              <a:off x="0" y="5431682"/>
              <a:ext cx="10079998" cy="270004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square" lIns="90004" tIns="44997" rIns="90004" bIns="44997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7" name="ZoneTexte 268"/>
            <p:cNvSpPr txBox="1"/>
            <p:nvPr/>
          </p:nvSpPr>
          <p:spPr>
            <a:xfrm>
              <a:off x="9539999" y="5359682"/>
              <a:ext cx="539998" cy="5169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800" b="0" i="0" u="none" strike="noStrike" kern="1200" cap="none" spc="-1" baseline="0">
                  <a:solidFill>
                    <a:srgbClr val="000000"/>
                  </a:solidFill>
                  <a:uFillTx/>
                  <a:latin typeface="Arial"/>
                  <a:ea typeface="DejaVu Sans"/>
                  <a:cs typeface="DejaVu Sans"/>
                </a:rPr>
                <a:t> </a:t>
              </a:r>
              <a:fld id="{24B70E71-ED12-4E74-902F-0D0E09729ACC}" type="slidenum">
                <a:t>3</a:t>
              </a:fld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8" name="ZoneTexte 269"/>
            <p:cNvSpPr txBox="1"/>
            <p:nvPr/>
          </p:nvSpPr>
          <p:spPr>
            <a:xfrm>
              <a:off x="0" y="5431682"/>
              <a:ext cx="1619996" cy="26099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-1" baseline="0">
                  <a:solidFill>
                    <a:srgbClr val="FFFFF0"/>
                  </a:solidFill>
                  <a:uFillTx/>
                  <a:latin typeface="Arial"/>
                  <a:ea typeface="DejaVu Sans"/>
                  <a:cs typeface="DejaVu Sans"/>
                </a:rPr>
                <a:t> 13/11/2025</a:t>
              </a:r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</p:grpSp>
      <p:sp>
        <p:nvSpPr>
          <p:cNvPr id="9" name="ZoneTexte 270"/>
          <p:cNvSpPr txBox="1"/>
          <p:nvPr/>
        </p:nvSpPr>
        <p:spPr>
          <a:xfrm>
            <a:off x="0" y="0"/>
            <a:ext cx="1416597" cy="2613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Contexte général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10" name="Image 1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69" y="718288"/>
            <a:ext cx="9454237" cy="3209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263"/>
          <p:cNvSpPr txBox="1"/>
          <p:nvPr/>
        </p:nvSpPr>
        <p:spPr>
          <a:xfrm>
            <a:off x="137306" y="477115"/>
            <a:ext cx="3240002" cy="489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limites</a:t>
            </a:r>
            <a:endParaRPr lang="fr-FR" sz="14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264"/>
          <p:cNvSpPr txBox="1"/>
          <p:nvPr/>
        </p:nvSpPr>
        <p:spPr>
          <a:xfrm>
            <a:off x="137306" y="1146319"/>
            <a:ext cx="9719998" cy="119857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OpenSymbol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Connaissance statique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     Le modèle ne connaît que ce qui existait au moment de son entraînement.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     Il ne peut pas apprendre les nouveaux faits scientifiques publiés ensuite.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OpenSymbol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265"/>
          <p:cNvSpPr txBox="1"/>
          <p:nvPr/>
        </p:nvSpPr>
        <p:spPr>
          <a:xfrm>
            <a:off x="82579" y="2639022"/>
            <a:ext cx="9179999" cy="131075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2.  Manque de données spécialisées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LLMs sont souvent entraînés sur des données publiques.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ils n’ont pas accès aux documents propriétaires, comme : les fiches techniques,les rapports d’expérience,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➜ Cela les empêche de bien comprendre le contexte scientifique réel.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grpSp>
        <p:nvGrpSpPr>
          <p:cNvPr id="6" name="Groupe 266"/>
          <p:cNvGrpSpPr/>
          <p:nvPr/>
        </p:nvGrpSpPr>
        <p:grpSpPr>
          <a:xfrm>
            <a:off x="0" y="5359682"/>
            <a:ext cx="10079998" cy="516956"/>
            <a:chOff x="0" y="5359682"/>
            <a:chExt cx="10079998" cy="516956"/>
          </a:xfrm>
        </p:grpSpPr>
        <p:sp>
          <p:nvSpPr>
            <p:cNvPr id="7" name="Rectangle 267"/>
            <p:cNvSpPr/>
            <p:nvPr/>
          </p:nvSpPr>
          <p:spPr>
            <a:xfrm>
              <a:off x="0" y="5431682"/>
              <a:ext cx="10079998" cy="270004"/>
            </a:xfrm>
            <a:prstGeom prst="rect">
              <a:avLst/>
            </a:prstGeom>
            <a:solidFill>
              <a:srgbClr val="4169E1"/>
            </a:solidFill>
            <a:ln w="0">
              <a:solidFill>
                <a:srgbClr val="3465A4"/>
              </a:solidFill>
              <a:prstDash val="solid"/>
            </a:ln>
          </p:spPr>
          <p:txBody>
            <a:bodyPr vert="horz" wrap="square" lIns="90004" tIns="44997" rIns="90004" bIns="44997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fr-FR" sz="1800" b="0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8" name="ZoneTexte 268"/>
            <p:cNvSpPr txBox="1"/>
            <p:nvPr/>
          </p:nvSpPr>
          <p:spPr>
            <a:xfrm>
              <a:off x="9539999" y="5359682"/>
              <a:ext cx="539998" cy="51695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800" b="0" i="0" u="none" strike="noStrike" kern="1200" cap="none" spc="-1" baseline="0">
                  <a:solidFill>
                    <a:srgbClr val="000000"/>
                  </a:solidFill>
                  <a:uFillTx/>
                  <a:latin typeface="Arial"/>
                  <a:ea typeface="DejaVu Sans"/>
                  <a:cs typeface="DejaVu Sans"/>
                </a:rPr>
                <a:t> </a:t>
              </a:r>
              <a:fld id="{FE8BC11C-F900-408B-9262-5BEC014832B6}" type="slidenum">
                <a:t>4</a:t>
              </a:fld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  <p:sp>
          <p:nvSpPr>
            <p:cNvPr id="9" name="ZoneTexte 269"/>
            <p:cNvSpPr txBox="1"/>
            <p:nvPr/>
          </p:nvSpPr>
          <p:spPr>
            <a:xfrm>
              <a:off x="0" y="5431682"/>
              <a:ext cx="1619996" cy="260997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4" tIns="44997" rIns="90004" bIns="44997" anchor="t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1200" b="0" i="0" u="none" strike="noStrike" kern="1200" cap="none" spc="-1" baseline="0">
                  <a:solidFill>
                    <a:srgbClr val="FFFFF0"/>
                  </a:solidFill>
                  <a:uFillTx/>
                  <a:latin typeface="Arial"/>
                  <a:ea typeface="DejaVu Sans"/>
                  <a:cs typeface="DejaVu Sans"/>
                </a:rPr>
                <a:t> 13/11/2025</a:t>
              </a:r>
              <a:endPara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endParaRPr>
            </a:p>
          </p:txBody>
        </p:sp>
      </p:grpSp>
      <p:sp>
        <p:nvSpPr>
          <p:cNvPr id="10" name="ZoneTexte 270"/>
          <p:cNvSpPr txBox="1"/>
          <p:nvPr/>
        </p:nvSpPr>
        <p:spPr>
          <a:xfrm>
            <a:off x="0" y="0"/>
            <a:ext cx="1416597" cy="2613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Contexte général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71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273"/>
          <p:cNvSpPr txBox="1"/>
          <p:nvPr/>
        </p:nvSpPr>
        <p:spPr>
          <a:xfrm>
            <a:off x="293037" y="470120"/>
            <a:ext cx="8526962" cy="122652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3.  Hallucinations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Ils peuvent inventer des faits lorsqu’ils n’ont pas accès aux bonnes informations.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Ces textes paraissent corrects grammaticalement, mais contiennent de la désinformation.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C’est particulièrement dangereux dans les domaines scientifiques, où la précision est essentielle.</a:t>
            </a:r>
          </a:p>
        </p:txBody>
      </p:sp>
      <p:sp>
        <p:nvSpPr>
          <p:cNvPr id="4" name="ZoneTexte 274"/>
          <p:cNvSpPr txBox="1"/>
          <p:nvPr/>
        </p:nvSpPr>
        <p:spPr>
          <a:xfrm>
            <a:off x="385922" y="2699235"/>
            <a:ext cx="5613839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5 . Scalabilité : les modèles deviennent coûteux à utiliser ou à adapter.</a:t>
            </a:r>
          </a:p>
        </p:txBody>
      </p:sp>
      <p:sp>
        <p:nvSpPr>
          <p:cNvPr id="5" name="ZoneTexte 275"/>
          <p:cNvSpPr txBox="1"/>
          <p:nvPr/>
        </p:nvSpPr>
        <p:spPr>
          <a:xfrm>
            <a:off x="325846" y="2276133"/>
            <a:ext cx="8820000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4. Incohérence : le même modèle peut donner des réponses différentes à des questions identiques.</a:t>
            </a:r>
          </a:p>
        </p:txBody>
      </p:sp>
      <p:sp>
        <p:nvSpPr>
          <p:cNvPr id="6" name="Flèche : droite 276"/>
          <p:cNvSpPr/>
          <p:nvPr/>
        </p:nvSpPr>
        <p:spPr>
          <a:xfrm>
            <a:off x="179999" y="3335411"/>
            <a:ext cx="539998" cy="539998"/>
          </a:xfrm>
          <a:custGeom>
            <a:avLst>
              <a:gd name="f0" fmla="val 162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Rectangle : coins arrondis 277"/>
          <p:cNvSpPr/>
          <p:nvPr/>
        </p:nvSpPr>
        <p:spPr>
          <a:xfrm>
            <a:off x="1079997" y="3335411"/>
            <a:ext cx="7740002" cy="53999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1493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LLMs nécessitent l’intégration de connaissances externes afin d’améliorer leur fiabilité, leur précision factuelle et leurs capacités de raisonnement dans les domaines spécialisés.</a:t>
            </a:r>
          </a:p>
        </p:txBody>
      </p:sp>
      <p:sp>
        <p:nvSpPr>
          <p:cNvPr id="8" name="ZoneTexte 278"/>
          <p:cNvSpPr txBox="1"/>
          <p:nvPr/>
        </p:nvSpPr>
        <p:spPr>
          <a:xfrm>
            <a:off x="522927" y="4072481"/>
            <a:ext cx="6468840" cy="904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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Réduire les hallucinations,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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Améliorer le raisonnement et la précision factuelle,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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Mieux adapter les LLMs à des tâches spécifiques ou à des domaines spécialisés.</a:t>
            </a:r>
          </a:p>
        </p:txBody>
      </p:sp>
      <p:sp>
        <p:nvSpPr>
          <p:cNvPr id="9" name="Rectangle 279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ZoneTexte 280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CE2E124E-2048-4715-87BB-73F1A1FD9C31}" type="slidenum">
              <a:t>5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ZoneTexte 281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2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283"/>
          <p:cNvSpPr txBox="1"/>
          <p:nvPr/>
        </p:nvSpPr>
        <p:spPr>
          <a:xfrm>
            <a:off x="179999" y="359999"/>
            <a:ext cx="5759997" cy="489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  <a:endParaRPr lang="fr-FR" sz="14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4" name="Image 28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21" y="899998"/>
            <a:ext cx="9083878" cy="438876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285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286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220ABBCF-F5FE-4524-B385-937A90BF3131}" type="slidenum">
              <a:t>6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287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Rectangle 288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9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</a:p>
        </p:txBody>
      </p:sp>
      <p:sp>
        <p:nvSpPr>
          <p:cNvPr id="3" name="ZoneTexte 290"/>
          <p:cNvSpPr txBox="1"/>
          <p:nvPr/>
        </p:nvSpPr>
        <p:spPr>
          <a:xfrm>
            <a:off x="119877" y="899998"/>
            <a:ext cx="9960120" cy="960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OpenSymbol"/>
              <a:buAutoNum type="roman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La connaissance paramétrique correspond à l’information stockée à l’intérieur  du modèle, dans ses poids et paramètres.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OpenSymbol"/>
              <a:buAutoNum type="roman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Elle est  intégrée pendant l’entraînement ou le fine-tuning, ne peut être ni consultée directement ni modifiée de façon ciblée</a:t>
            </a:r>
          </a:p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100000"/>
              <a:buFont typeface="OpenSymbol"/>
              <a:buAutoNum type="romanL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approches paramétriques visent à injecter la connaissance dans le modèle lui-même, </a:t>
            </a:r>
          </a:p>
        </p:txBody>
      </p:sp>
      <p:sp>
        <p:nvSpPr>
          <p:cNvPr id="4" name="ZoneTexte 291"/>
          <p:cNvSpPr txBox="1"/>
          <p:nvPr/>
        </p:nvSpPr>
        <p:spPr>
          <a:xfrm>
            <a:off x="120234" y="2159236"/>
            <a:ext cx="6749277" cy="34667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15999" marR="0" lvl="0" indent="-215999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Symbol"/>
              <a:buAutoNum type="arabicParenR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Pré-entraînement avec des données enrichies en connaissances</a:t>
            </a:r>
          </a:p>
        </p:txBody>
      </p:sp>
      <p:sp>
        <p:nvSpPr>
          <p:cNvPr id="5" name="ZoneTexte 292"/>
          <p:cNvSpPr txBox="1"/>
          <p:nvPr/>
        </p:nvSpPr>
        <p:spPr>
          <a:xfrm>
            <a:off x="392698" y="2501798"/>
            <a:ext cx="8881923" cy="8186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 pré-entraînement consiste à former un modèle à partir de zéro sur de grands corpus de texte.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Dans ce contexte, on intègre des connaissances explicites (ex. graphes, bases de faits) dans les données d’entraînement pour que le modèle apprenne à les manipuler.</a:t>
            </a:r>
          </a:p>
        </p:txBody>
      </p:sp>
      <p:sp>
        <p:nvSpPr>
          <p:cNvPr id="6" name="Rectangle : coins arrondis 293"/>
          <p:cNvSpPr/>
          <p:nvPr/>
        </p:nvSpPr>
        <p:spPr>
          <a:xfrm>
            <a:off x="1079997" y="3240002"/>
            <a:ext cx="7020004" cy="359999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FF1493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Limite : même si le modèle “mémorise” ces faits, il peut échouer à les retrouver ou raisonner dessus</a:t>
            </a:r>
          </a:p>
        </p:txBody>
      </p:sp>
      <p:sp>
        <p:nvSpPr>
          <p:cNvPr id="7" name="Forme libre : forme 294"/>
          <p:cNvSpPr/>
          <p:nvPr/>
        </p:nvSpPr>
        <p:spPr>
          <a:xfrm>
            <a:off x="1079997" y="3960001"/>
            <a:ext cx="7020004" cy="107999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val 1930"/>
              <a:gd name="f5" fmla="val 7160"/>
              <a:gd name="f6" fmla="val 1530"/>
              <a:gd name="f7" fmla="val 4490"/>
              <a:gd name="f8" fmla="val 3400"/>
              <a:gd name="f9" fmla="val 1970"/>
              <a:gd name="f10" fmla="val 5270"/>
              <a:gd name="f11" fmla="val 5860"/>
              <a:gd name="f12" fmla="val 1950"/>
              <a:gd name="f13" fmla="val 6470"/>
              <a:gd name="f14" fmla="val 2210"/>
              <a:gd name="f15" fmla="val 6970"/>
              <a:gd name="f16" fmla="val 2600"/>
              <a:gd name="f17" fmla="val 7450"/>
              <a:gd name="f18" fmla="val 1390"/>
              <a:gd name="f19" fmla="val 8340"/>
              <a:gd name="f20" fmla="val 650"/>
              <a:gd name="f21" fmla="val 9340"/>
              <a:gd name="f22" fmla="val 10004"/>
              <a:gd name="f23" fmla="val 690"/>
              <a:gd name="f24" fmla="val 10710"/>
              <a:gd name="f25" fmla="val 1050"/>
              <a:gd name="f26" fmla="val 11210"/>
              <a:gd name="f27" fmla="val 1700"/>
              <a:gd name="f28" fmla="val 11570"/>
              <a:gd name="f29" fmla="val 630"/>
              <a:gd name="f30" fmla="val 12330"/>
              <a:gd name="f31" fmla="val 13150"/>
              <a:gd name="f32" fmla="val 13840"/>
              <a:gd name="f33" fmla="val 14470"/>
              <a:gd name="f34" fmla="val 460"/>
              <a:gd name="f35" fmla="val 14870"/>
              <a:gd name="f36" fmla="val 1160"/>
              <a:gd name="f37" fmla="val 15330"/>
              <a:gd name="f38" fmla="val 440"/>
              <a:gd name="f39" fmla="val 16020"/>
              <a:gd name="f40" fmla="val 16740"/>
              <a:gd name="f41" fmla="val 17910"/>
              <a:gd name="f42" fmla="val 18900"/>
              <a:gd name="f43" fmla="val 1130"/>
              <a:gd name="f44" fmla="val 19110"/>
              <a:gd name="f45" fmla="val 2710"/>
              <a:gd name="f46" fmla="val 20240"/>
              <a:gd name="f47" fmla="val 3150"/>
              <a:gd name="f48" fmla="val 21060"/>
              <a:gd name="f49" fmla="val 4580"/>
              <a:gd name="f50" fmla="val 6220"/>
              <a:gd name="f51" fmla="val 6720"/>
              <a:gd name="f52" fmla="val 21000"/>
              <a:gd name="f53" fmla="val 7200"/>
              <a:gd name="f54" fmla="val 20830"/>
              <a:gd name="f55" fmla="val 7660"/>
              <a:gd name="f56" fmla="val 21310"/>
              <a:gd name="f57" fmla="val 8460"/>
              <a:gd name="f58" fmla="val 9450"/>
              <a:gd name="f59" fmla="val 10460"/>
              <a:gd name="f60" fmla="val 12750"/>
              <a:gd name="f61" fmla="val 20310"/>
              <a:gd name="f62" fmla="val 14680"/>
              <a:gd name="f63" fmla="val 18650"/>
              <a:gd name="f64" fmla="val 15010"/>
              <a:gd name="f65" fmla="val 17200"/>
              <a:gd name="f66" fmla="val 17370"/>
              <a:gd name="f67" fmla="val 18920"/>
              <a:gd name="f68" fmla="val 15770"/>
              <a:gd name="f69" fmla="val 15220"/>
              <a:gd name="f70" fmla="val 14700"/>
              <a:gd name="f71" fmla="val 18710"/>
              <a:gd name="f72" fmla="val 14240"/>
              <a:gd name="f73" fmla="val 18310"/>
              <a:gd name="f74" fmla="val 13820"/>
              <a:gd name="f75" fmla="val 12490"/>
              <a:gd name="f76" fmla="val 11000"/>
              <a:gd name="f77" fmla="val 9890"/>
              <a:gd name="f78" fmla="val 8840"/>
              <a:gd name="f79" fmla="val 20790"/>
              <a:gd name="f80" fmla="val 8210"/>
              <a:gd name="f81" fmla="val 19510"/>
              <a:gd name="f82" fmla="val 7620"/>
              <a:gd name="f83" fmla="val 20000"/>
              <a:gd name="f84" fmla="val 7930"/>
              <a:gd name="f85" fmla="val 20290"/>
              <a:gd name="f86" fmla="val 6240"/>
              <a:gd name="f87" fmla="val 4850"/>
              <a:gd name="f88" fmla="val 3570"/>
              <a:gd name="f89" fmla="val 19280"/>
              <a:gd name="f90" fmla="val 2900"/>
              <a:gd name="f91" fmla="val 17640"/>
              <a:gd name="f92" fmla="val 1300"/>
              <a:gd name="f93" fmla="val 17600"/>
              <a:gd name="f94" fmla="val 480"/>
              <a:gd name="f95" fmla="val 16300"/>
              <a:gd name="f96" fmla="val 14660"/>
              <a:gd name="f97" fmla="val 13900"/>
              <a:gd name="f98" fmla="val 13210"/>
              <a:gd name="f99" fmla="val 1070"/>
              <a:gd name="f100" fmla="val 12640"/>
              <a:gd name="f101" fmla="val 380"/>
              <a:gd name="f102" fmla="val 12160"/>
              <a:gd name="f103" fmla="val 10120"/>
              <a:gd name="f104" fmla="val 8590"/>
              <a:gd name="f105" fmla="val 840"/>
              <a:gd name="f106" fmla="val 7330"/>
              <a:gd name="f107" fmla="val 7410"/>
              <a:gd name="f108" fmla="val 2040"/>
              <a:gd name="f109" fmla="val 7690"/>
              <a:gd name="f110" fmla="val 2090"/>
              <a:gd name="f111" fmla="val 7920"/>
              <a:gd name="f112" fmla="val 2790"/>
              <a:gd name="f113" fmla="val 7480"/>
              <a:gd name="f114" fmla="val 3050"/>
              <a:gd name="f115" fmla="val 7670"/>
              <a:gd name="f116" fmla="val 3310"/>
              <a:gd name="f117" fmla="val 11130"/>
              <a:gd name="f118" fmla="val 1910"/>
              <a:gd name="f119" fmla="val 11080"/>
              <a:gd name="f120" fmla="val 2160"/>
              <a:gd name="f121" fmla="val 11030"/>
              <a:gd name="f122" fmla="val 2400"/>
              <a:gd name="f123" fmla="val 14720"/>
              <a:gd name="f124" fmla="val 1400"/>
              <a:gd name="f125" fmla="val 14640"/>
              <a:gd name="f126" fmla="val 1720"/>
              <a:gd name="f127" fmla="val 14540"/>
              <a:gd name="f128" fmla="val 2010"/>
              <a:gd name="f129" fmla="val 19130"/>
              <a:gd name="f130" fmla="val 2890"/>
              <a:gd name="f131" fmla="val 19230"/>
              <a:gd name="f132" fmla="val 3290"/>
              <a:gd name="f133" fmla="val 19190"/>
              <a:gd name="f134" fmla="val 3380"/>
              <a:gd name="f135" fmla="val 20660"/>
              <a:gd name="f136" fmla="val 8170"/>
              <a:gd name="f137" fmla="val 20430"/>
              <a:gd name="f138" fmla="val 8620"/>
              <a:gd name="f139" fmla="val 20110"/>
              <a:gd name="f140" fmla="val 8990"/>
              <a:gd name="f141" fmla="val 18660"/>
              <a:gd name="f142" fmla="val 18740"/>
              <a:gd name="f143" fmla="val 14200"/>
              <a:gd name="f144" fmla="val 18280"/>
              <a:gd name="f145" fmla="val 12200"/>
              <a:gd name="f146" fmla="val 17000"/>
              <a:gd name="f147" fmla="val 11450"/>
              <a:gd name="f148" fmla="val 14320"/>
              <a:gd name="f149" fmla="val 17980"/>
              <a:gd name="f150" fmla="val 14350"/>
              <a:gd name="f151" fmla="val 17680"/>
              <a:gd name="f152" fmla="val 14370"/>
              <a:gd name="f153" fmla="val 17360"/>
              <a:gd name="f154" fmla="val 8220"/>
              <a:gd name="f155" fmla="val 8060"/>
              <a:gd name="f156" fmla="val 19250"/>
              <a:gd name="f157" fmla="val 7960"/>
              <a:gd name="f158" fmla="val 18950"/>
              <a:gd name="f159" fmla="val 7860"/>
              <a:gd name="f160" fmla="val 18640"/>
              <a:gd name="f161" fmla="val 3090"/>
              <a:gd name="f162" fmla="val 3280"/>
              <a:gd name="f163" fmla="val 17540"/>
              <a:gd name="f164" fmla="val 3460"/>
              <a:gd name="f165" fmla="val 17450"/>
              <a:gd name="f166" fmla="val 12900"/>
              <a:gd name="f167" fmla="val 1780"/>
              <a:gd name="f168" fmla="val 13130"/>
              <a:gd name="f169" fmla="val 2330"/>
              <a:gd name="f170" fmla="val 13040"/>
              <a:gd name="f171" fmla="*/ f0 1 21600"/>
              <a:gd name="f172" fmla="*/ f1 1 21600"/>
              <a:gd name="f173" fmla="val f2"/>
              <a:gd name="f174" fmla="val f3"/>
              <a:gd name="f175" fmla="+- f174 0 f173"/>
              <a:gd name="f176" fmla="*/ f175 1 21600"/>
              <a:gd name="f177" fmla="*/ 974880 f175 1"/>
              <a:gd name="f178" fmla="*/ 5560920 f175 1"/>
              <a:gd name="f179" fmla="*/ 165960 f175 1"/>
              <a:gd name="f180" fmla="*/ 866520 f175 1"/>
              <a:gd name="f181" fmla="*/ f177 1 7020000"/>
              <a:gd name="f182" fmla="*/ f178 1 7020000"/>
              <a:gd name="f183" fmla="*/ f179 1 1080000"/>
              <a:gd name="f184" fmla="*/ f180 1 1080000"/>
              <a:gd name="f185" fmla="*/ f181 1 f176"/>
              <a:gd name="f186" fmla="*/ f182 1 f176"/>
              <a:gd name="f187" fmla="*/ f183 1 f176"/>
              <a:gd name="f188" fmla="*/ f184 1 f176"/>
              <a:gd name="f189" fmla="*/ f185 f171 1"/>
              <a:gd name="f190" fmla="*/ f186 f171 1"/>
              <a:gd name="f191" fmla="*/ f188 f172 1"/>
              <a:gd name="f192" fmla="*/ f187 f17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9" t="f192" r="f190" b="f191"/>
            <a:pathLst>
              <a:path w="21600" h="21600">
                <a:moveTo>
                  <a:pt x="f4" y="f5"/>
                </a:moveTo>
                <a:cubicBezTo>
                  <a:pt x="f6" y="f7"/>
                  <a:pt x="f8" y="f9"/>
                  <a:pt x="f10" y="f9"/>
                </a:cubicBezTo>
                <a:cubicBezTo>
                  <a:pt x="f11" y="f12"/>
                  <a:pt x="f13" y="f14"/>
                  <a:pt x="f15" y="f16"/>
                </a:cubicBezTo>
                <a:cubicBezTo>
                  <a:pt x="f17" y="f18"/>
                  <a:pt x="f19" y="f20"/>
                  <a:pt x="f21" y="f20"/>
                </a:cubicBezTo>
                <a:cubicBezTo>
                  <a:pt x="f22" y="f23"/>
                  <a:pt x="f24" y="f25"/>
                  <a:pt x="f26" y="f27"/>
                </a:cubicBezTo>
                <a:cubicBezTo>
                  <a:pt x="f28" y="f29"/>
                  <a:pt x="f30" y="f2"/>
                  <a:pt x="f31" y="f2"/>
                </a:cubicBezTo>
                <a:cubicBezTo>
                  <a:pt x="f32" y="f2"/>
                  <a:pt x="f33" y="f34"/>
                  <a:pt x="f35" y="f36"/>
                </a:cubicBezTo>
                <a:cubicBezTo>
                  <a:pt x="f37" y="f38"/>
                  <a:pt x="f39" y="f2"/>
                  <a:pt x="f40" y="f2"/>
                </a:cubicBezTo>
                <a:cubicBezTo>
                  <a:pt x="f41" y="f2"/>
                  <a:pt x="f42" y="f43"/>
                  <a:pt x="f44" y="f45"/>
                </a:cubicBezTo>
                <a:cubicBezTo>
                  <a:pt x="f46" y="f47"/>
                  <a:pt x="f48" y="f49"/>
                  <a:pt x="f48" y="f50"/>
                </a:cubicBezTo>
                <a:cubicBezTo>
                  <a:pt x="f48" y="f51"/>
                  <a:pt x="f52" y="f53"/>
                  <a:pt x="f54" y="f55"/>
                </a:cubicBezTo>
                <a:cubicBezTo>
                  <a:pt x="f56" y="f57"/>
                  <a:pt x="f3" y="f58"/>
                  <a:pt x="f3" y="f59"/>
                </a:cubicBezTo>
                <a:cubicBezTo>
                  <a:pt x="f3" y="f60"/>
                  <a:pt x="f61" y="f62"/>
                  <a:pt x="f63" y="f64"/>
                </a:cubicBezTo>
                <a:cubicBezTo>
                  <a:pt x="f63" y="f65"/>
                  <a:pt x="f66" y="f67"/>
                  <a:pt x="f68" y="f67"/>
                </a:cubicBezTo>
                <a:cubicBezTo>
                  <a:pt x="f69" y="f67"/>
                  <a:pt x="f70" y="f71"/>
                  <a:pt x="f72" y="f73"/>
                </a:cubicBezTo>
                <a:cubicBezTo>
                  <a:pt x="f74" y="f46"/>
                  <a:pt x="f75" y="f3"/>
                  <a:pt x="f76" y="f3"/>
                </a:cubicBezTo>
                <a:cubicBezTo>
                  <a:pt x="f77" y="f3"/>
                  <a:pt x="f78" y="f79"/>
                  <a:pt x="f80" y="f81"/>
                </a:cubicBezTo>
                <a:cubicBezTo>
                  <a:pt x="f82" y="f83"/>
                  <a:pt x="f84" y="f85"/>
                  <a:pt x="f86" y="f85"/>
                </a:cubicBezTo>
                <a:cubicBezTo>
                  <a:pt x="f87" y="f85"/>
                  <a:pt x="f88" y="f89"/>
                  <a:pt x="f90" y="f91"/>
                </a:cubicBezTo>
                <a:cubicBezTo>
                  <a:pt x="f92" y="f93"/>
                  <a:pt x="f94" y="f95"/>
                  <a:pt x="f94" y="f96"/>
                </a:cubicBezTo>
                <a:cubicBezTo>
                  <a:pt x="f94" y="f97"/>
                  <a:pt x="f23" y="f98"/>
                  <a:pt x="f99" y="f100"/>
                </a:cubicBezTo>
                <a:cubicBezTo>
                  <a:pt x="f101" y="f102"/>
                  <a:pt x="f2" y="f26"/>
                  <a:pt x="f2" y="f103"/>
                </a:cubicBezTo>
                <a:cubicBezTo>
                  <a:pt x="f2" y="f104"/>
                  <a:pt x="f105" y="f106"/>
                  <a:pt x="f4" y="f5"/>
                </a:cubicBezTo>
                <a:close/>
              </a:path>
              <a:path w="21600" h="21600" fill="none">
                <a:moveTo>
                  <a:pt x="f4" y="f5"/>
                </a:moveTo>
                <a:cubicBezTo>
                  <a:pt x="f12" y="f107"/>
                  <a:pt x="f108" y="f109"/>
                  <a:pt x="f110" y="f111"/>
                </a:cubicBezTo>
              </a:path>
              <a:path w="21600" h="21600" fill="none">
                <a:moveTo>
                  <a:pt x="f15" y="f16"/>
                </a:moveTo>
                <a:cubicBezTo>
                  <a:pt x="f53" y="f112"/>
                  <a:pt x="f113" y="f114"/>
                  <a:pt x="f115" y="f116"/>
                </a:cubicBezTo>
              </a:path>
              <a:path w="21600" h="21600" fill="none">
                <a:moveTo>
                  <a:pt x="f26" y="f27"/>
                </a:moveTo>
                <a:cubicBezTo>
                  <a:pt x="f117" y="f118"/>
                  <a:pt x="f119" y="f120"/>
                  <a:pt x="f121" y="f122"/>
                </a:cubicBezTo>
              </a:path>
              <a:path w="21600" h="21600" fill="none">
                <a:moveTo>
                  <a:pt x="f35" y="f36"/>
                </a:moveTo>
                <a:cubicBezTo>
                  <a:pt x="f123" y="f124"/>
                  <a:pt x="f125" y="f126"/>
                  <a:pt x="f127" y="f128"/>
                </a:cubicBezTo>
              </a:path>
              <a:path w="21600" h="21600" fill="none">
                <a:moveTo>
                  <a:pt x="f44" y="f45"/>
                </a:moveTo>
                <a:cubicBezTo>
                  <a:pt x="f129" y="f130"/>
                  <a:pt x="f131" y="f132"/>
                  <a:pt x="f133" y="f134"/>
                </a:cubicBezTo>
              </a:path>
              <a:path w="21600" h="21600" fill="none">
                <a:moveTo>
                  <a:pt x="f54" y="f55"/>
                </a:moveTo>
                <a:cubicBezTo>
                  <a:pt x="f135" y="f136"/>
                  <a:pt x="f137" y="f138"/>
                  <a:pt x="f139" y="f140"/>
                </a:cubicBezTo>
              </a:path>
              <a:path w="21600" h="21600" fill="none">
                <a:moveTo>
                  <a:pt x="f141" y="f64"/>
                </a:moveTo>
                <a:cubicBezTo>
                  <a:pt x="f142" y="f143"/>
                  <a:pt x="f144" y="f145"/>
                  <a:pt x="f146" y="f147"/>
                </a:cubicBezTo>
              </a:path>
              <a:path w="21600" h="21600" fill="none">
                <a:moveTo>
                  <a:pt x="f72" y="f73"/>
                </a:moveTo>
                <a:cubicBezTo>
                  <a:pt x="f148" y="f149"/>
                  <a:pt x="f150" y="f151"/>
                  <a:pt x="f152" y="f153"/>
                </a:cubicBezTo>
              </a:path>
              <a:path w="21600" h="21600" fill="none">
                <a:moveTo>
                  <a:pt x="f154" y="f81"/>
                </a:moveTo>
                <a:cubicBezTo>
                  <a:pt x="f155" y="f156"/>
                  <a:pt x="f157" y="f158"/>
                  <a:pt x="f159" y="f160"/>
                </a:cubicBezTo>
              </a:path>
              <a:path w="21600" h="21600" fill="none">
                <a:moveTo>
                  <a:pt x="f90" y="f91"/>
                </a:moveTo>
                <a:cubicBezTo>
                  <a:pt x="f161" y="f93"/>
                  <a:pt x="f162" y="f163"/>
                  <a:pt x="f164" y="f165"/>
                </a:cubicBezTo>
              </a:path>
              <a:path w="21600" h="21600" fill="none">
                <a:moveTo>
                  <a:pt x="f99" y="f100"/>
                </a:moveTo>
                <a:cubicBezTo>
                  <a:pt x="f124" y="f166"/>
                  <a:pt x="f167" y="f168"/>
                  <a:pt x="f169" y="f170"/>
                </a:cubicBezTo>
              </a:path>
            </a:pathLst>
          </a:custGeom>
          <a:solidFill>
            <a:srgbClr val="FFC0CB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Problème clé :</a:t>
            </a: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la mémorisation</a:t>
            </a:r>
            <a:r>
              <a:rPr lang="fr-FR" sz="10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r>
              <a:rPr lang="fr-FR" sz="10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≠</a:t>
            </a:r>
            <a:r>
              <a:rPr lang="fr-FR" sz="10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compréhension</a:t>
            </a:r>
            <a:r>
              <a:rPr lang="fr-FR" sz="10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.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LLMs peuvent connaître un fait mais échouer à l’utiliser de manière flexible.</a:t>
            </a:r>
          </a:p>
        </p:txBody>
      </p:sp>
      <p:sp>
        <p:nvSpPr>
          <p:cNvPr id="8" name="Rectangle 295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Parametric Knowledge</a:t>
            </a:r>
          </a:p>
        </p:txBody>
      </p:sp>
      <p:sp>
        <p:nvSpPr>
          <p:cNvPr id="9" name="Rectangle 296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ZoneTexte 297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17E7FBEE-F030-459A-ACC6-6777456770BB}" type="slidenum">
              <a:t>7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ZoneTexte 298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9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</a:p>
        </p:txBody>
      </p:sp>
      <p:sp>
        <p:nvSpPr>
          <p:cNvPr id="3" name="ZoneTexte 300"/>
          <p:cNvSpPr txBox="1"/>
          <p:nvPr/>
        </p:nvSpPr>
        <p:spPr>
          <a:xfrm>
            <a:off x="179999" y="733321"/>
            <a:ext cx="2520004" cy="34667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2)  Fine-tuning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01"/>
          <p:cNvSpPr txBox="1"/>
          <p:nvPr/>
        </p:nvSpPr>
        <p:spPr>
          <a:xfrm>
            <a:off x="671041" y="1079997"/>
            <a:ext cx="7968959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 fine-tuning consiste à réentraîner un modèle pré-entraîné sur un corpus plus petit et spécialisé</a:t>
            </a:r>
          </a:p>
        </p:txBody>
      </p:sp>
      <p:sp>
        <p:nvSpPr>
          <p:cNvPr id="5" name="ZoneTexte 302"/>
          <p:cNvSpPr txBox="1"/>
          <p:nvPr/>
        </p:nvSpPr>
        <p:spPr>
          <a:xfrm>
            <a:off x="671041" y="1368363"/>
            <a:ext cx="9000000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Ce processus est aussi appelé apprentissage par transfert (transfer learning) ou adaptation au domaine (domain adaptation).</a:t>
            </a:r>
          </a:p>
        </p:txBody>
      </p:sp>
      <p:sp>
        <p:nvSpPr>
          <p:cNvPr id="6" name="Rectangle : coins arrondis 303"/>
          <p:cNvSpPr/>
          <p:nvPr/>
        </p:nvSpPr>
        <p:spPr>
          <a:xfrm>
            <a:off x="3780001" y="1799996"/>
            <a:ext cx="1979996" cy="539998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Fine-tuning</a:t>
            </a:r>
          </a:p>
        </p:txBody>
      </p:sp>
      <p:sp>
        <p:nvSpPr>
          <p:cNvPr id="7" name="Rectangle 304"/>
          <p:cNvSpPr/>
          <p:nvPr/>
        </p:nvSpPr>
        <p:spPr>
          <a:xfrm>
            <a:off x="359999" y="2880003"/>
            <a:ext cx="2340004" cy="359642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Full fine-tuning</a:t>
            </a:r>
          </a:p>
        </p:txBody>
      </p:sp>
      <p:sp>
        <p:nvSpPr>
          <p:cNvPr id="8" name="Rectangle 305"/>
          <p:cNvSpPr/>
          <p:nvPr/>
        </p:nvSpPr>
        <p:spPr>
          <a:xfrm>
            <a:off x="5939997" y="2880003"/>
            <a:ext cx="2340004" cy="359642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Parameter-efficient fine-tuning</a:t>
            </a:r>
          </a:p>
        </p:txBody>
      </p:sp>
      <p:sp>
        <p:nvSpPr>
          <p:cNvPr id="9" name="Connecteur droit 306"/>
          <p:cNvSpPr/>
          <p:nvPr/>
        </p:nvSpPr>
        <p:spPr>
          <a:xfrm flipH="1">
            <a:off x="2159995" y="2340004"/>
            <a:ext cx="2520004" cy="540355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Connecteur droit 307"/>
          <p:cNvSpPr/>
          <p:nvPr/>
        </p:nvSpPr>
        <p:spPr>
          <a:xfrm>
            <a:off x="4679999" y="2340004"/>
            <a:ext cx="2520004" cy="53999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val f6"/>
              <a:gd name="f13" fmla="*/ f7 f0 1"/>
              <a:gd name="f14" fmla="*/ f8 f0 1"/>
              <a:gd name="f15" fmla="?: f9 f3 1"/>
              <a:gd name="f16" fmla="?: f10 f4 1"/>
              <a:gd name="f17" fmla="?: f11 f5 1"/>
              <a:gd name="f18" fmla="*/ f13 1 f2"/>
              <a:gd name="f19" fmla="*/ f14 1 f2"/>
              <a:gd name="f20" fmla="*/ f15 1 21600"/>
              <a:gd name="f21" fmla="*/ f16 1 21600"/>
              <a:gd name="f22" fmla="*/ 21600 f15 1"/>
              <a:gd name="f23" fmla="*/ 21600 f16 1"/>
              <a:gd name="f24" fmla="+- f18 0 f1"/>
              <a:gd name="f25" fmla="+- f19 0 f1"/>
              <a:gd name="f26" fmla="min f21 f20"/>
              <a:gd name="f27" fmla="*/ f22 1 f17"/>
              <a:gd name="f28" fmla="*/ f23 1 f17"/>
              <a:gd name="f29" fmla="val f27"/>
              <a:gd name="f30" fmla="val f28"/>
              <a:gd name="f31" fmla="*/ f6 f26 1"/>
              <a:gd name="f32" fmla="*/ f27 f26 1"/>
              <a:gd name="f33" fmla="*/ f28 f26 1"/>
              <a:gd name="f34" fmla="*/ f12 f26 1"/>
              <a:gd name="f35" fmla="*/ f29 f26 1"/>
              <a:gd name="f36" fmla="*/ f30 f2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4">
                <a:pos x="f34" y="f34"/>
              </a:cxn>
              <a:cxn ang="f25">
                <a:pos x="f35" y="f36"/>
              </a:cxn>
            </a:cxnLst>
            <a:rect l="f31" t="f31" r="f32" b="f33"/>
            <a:pathLst>
              <a:path>
                <a:moveTo>
                  <a:pt x="f34" y="f34"/>
                </a:moveTo>
                <a:lnTo>
                  <a:pt x="f35" y="f36"/>
                </a:lnTo>
              </a:path>
            </a:pathLst>
          </a:custGeom>
          <a:noFill/>
          <a:ln w="0">
            <a:solidFill>
              <a:srgbClr val="3465A4"/>
            </a:solidFill>
            <a:prstDash val="solid"/>
            <a:tailEnd type="arrow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ZoneTexte 308"/>
          <p:cNvSpPr txBox="1"/>
          <p:nvPr/>
        </p:nvSpPr>
        <p:spPr>
          <a:xfrm>
            <a:off x="195123" y="3348359"/>
            <a:ext cx="3404878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ajuste tous les paramètres du modèle.</a:t>
            </a:r>
          </a:p>
        </p:txBody>
      </p:sp>
      <p:sp>
        <p:nvSpPr>
          <p:cNvPr id="12" name="ZoneTexte 309"/>
          <p:cNvSpPr txBox="1"/>
          <p:nvPr/>
        </p:nvSpPr>
        <p:spPr>
          <a:xfrm>
            <a:off x="213119" y="3727441"/>
            <a:ext cx="3926881" cy="9435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Très précis, mais extrêmement coûteux (besoin de GPU puissants, gros temps d’entraînement).</a:t>
            </a:r>
          </a:p>
        </p:txBody>
      </p:sp>
      <p:sp>
        <p:nvSpPr>
          <p:cNvPr id="13" name="ZoneTexte 310"/>
          <p:cNvSpPr txBox="1"/>
          <p:nvPr/>
        </p:nvSpPr>
        <p:spPr>
          <a:xfrm>
            <a:off x="5759997" y="3420002"/>
            <a:ext cx="4320000" cy="60227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modifie qu’un petit nombre de paramètres, ce qui réduit le coût computationnel (LoRA, Adapters)</a:t>
            </a:r>
          </a:p>
        </p:txBody>
      </p:sp>
      <p:sp>
        <p:nvSpPr>
          <p:cNvPr id="14" name="ZoneTexte 311"/>
          <p:cNvSpPr txBox="1"/>
          <p:nvPr/>
        </p:nvSpPr>
        <p:spPr>
          <a:xfrm>
            <a:off x="5759997" y="3960001"/>
            <a:ext cx="4140000" cy="960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+Rapide et efficace,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+Moins de risque de “catastrophic forgetting”.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5" name="Rectangle 312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6" name="ZoneTexte 313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C72FEEA8-ECC1-4FCA-AFA3-3ABD1FC37D46}" type="slidenum">
              <a:t>8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7" name="ZoneTexte 314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8" name="Rectangle 315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Parametric Knowledge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6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</a:p>
        </p:txBody>
      </p:sp>
      <p:sp>
        <p:nvSpPr>
          <p:cNvPr id="3" name="ZoneTexte 317"/>
          <p:cNvSpPr txBox="1"/>
          <p:nvPr/>
        </p:nvSpPr>
        <p:spPr>
          <a:xfrm>
            <a:off x="359999" y="1016639"/>
            <a:ext cx="8820000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Injecter ou corriger des connaissances factuelles dans le modèle, sans devoir réentraîner tout le modèle ni affecter les autres connaissances.</a:t>
            </a:r>
          </a:p>
        </p:txBody>
      </p:sp>
      <p:sp>
        <p:nvSpPr>
          <p:cNvPr id="4" name="ZoneTexte 318"/>
          <p:cNvSpPr txBox="1"/>
          <p:nvPr/>
        </p:nvSpPr>
        <p:spPr>
          <a:xfrm>
            <a:off x="179999" y="706675"/>
            <a:ext cx="4859999" cy="309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3) Knowledge Editing </a:t>
            </a:r>
          </a:p>
        </p:txBody>
      </p:sp>
      <p:sp>
        <p:nvSpPr>
          <p:cNvPr id="5" name="ZoneTexte 319"/>
          <p:cNvSpPr txBox="1"/>
          <p:nvPr/>
        </p:nvSpPr>
        <p:spPr>
          <a:xfrm>
            <a:off x="179999" y="1439997"/>
            <a:ext cx="4715999" cy="3740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4) Steering and Styling LLMs</a:t>
            </a:r>
          </a:p>
        </p:txBody>
      </p:sp>
      <p:sp>
        <p:nvSpPr>
          <p:cNvPr id="6" name="ZoneTexte 320"/>
          <p:cNvSpPr txBox="1"/>
          <p:nvPr/>
        </p:nvSpPr>
        <p:spPr>
          <a:xfrm>
            <a:off x="359999" y="1785960"/>
            <a:ext cx="7409876" cy="3740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 steering permet d’aligner les sorties du LLM avec des contraintes ou connaissances spécifiques.</a:t>
            </a:r>
          </a:p>
        </p:txBody>
      </p:sp>
      <p:sp>
        <p:nvSpPr>
          <p:cNvPr id="7" name="ZoneTexte 321"/>
          <p:cNvSpPr txBox="1"/>
          <p:nvPr/>
        </p:nvSpPr>
        <p:spPr>
          <a:xfrm>
            <a:off x="230401" y="2229480"/>
            <a:ext cx="2469602" cy="2905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5) Embeddings approches</a:t>
            </a:r>
          </a:p>
        </p:txBody>
      </p:sp>
      <p:sp>
        <p:nvSpPr>
          <p:cNvPr id="8" name="ZoneTexte 322"/>
          <p:cNvSpPr txBox="1"/>
          <p:nvPr/>
        </p:nvSpPr>
        <p:spPr>
          <a:xfrm>
            <a:off x="359999" y="2628360"/>
            <a:ext cx="7020004" cy="43164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Transformer les connaissances externes en vecteurs numériques.</a:t>
            </a:r>
          </a:p>
        </p:txBody>
      </p:sp>
      <p:sp>
        <p:nvSpPr>
          <p:cNvPr id="9" name="Rectangle 323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ZoneTexte 324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DEB30BFD-BCDE-4680-A185-CA00B282F604}" type="slidenum">
              <a:t>9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ZoneTexte 325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2" name="Rectangle 326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Parametric Knowledge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27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</a:p>
        </p:txBody>
      </p:sp>
      <p:sp>
        <p:nvSpPr>
          <p:cNvPr id="3" name="Organigramme : Bande perforée 328"/>
          <p:cNvSpPr/>
          <p:nvPr/>
        </p:nvSpPr>
        <p:spPr>
          <a:xfrm>
            <a:off x="3240002" y="539998"/>
            <a:ext cx="3780001" cy="71999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0"/>
              <a:gd name="f7" fmla="+- 0 0 10800000"/>
              <a:gd name="f8" fmla="val 2"/>
              <a:gd name="f9" fmla="val 5"/>
              <a:gd name="f10" fmla="val 18"/>
              <a:gd name="f11" fmla="+- 0 0 -360"/>
              <a:gd name="f12" fmla="+- 0 0 -180"/>
              <a:gd name="f13" fmla="*/ f3 1 20"/>
              <a:gd name="f14" fmla="*/ f4 1 20"/>
              <a:gd name="f15" fmla="val f5"/>
              <a:gd name="f16" fmla="val f6"/>
              <a:gd name="f17" fmla="*/ f11 f0 1"/>
              <a:gd name="f18" fmla="*/ f12 f0 1"/>
              <a:gd name="f19" fmla="+- f16 0 f15"/>
              <a:gd name="f20" fmla="*/ f17 1 f2"/>
              <a:gd name="f21" fmla="*/ f18 1 f2"/>
              <a:gd name="f22" fmla="*/ f19 1 5"/>
              <a:gd name="f23" fmla="*/ f19 1 10"/>
              <a:gd name="f24" fmla="*/ f19 1 2"/>
              <a:gd name="f25" fmla="*/ f19 1 20"/>
              <a:gd name="f26" fmla="*/ f19 9 1"/>
              <a:gd name="f27" fmla="*/ f19 4 1"/>
              <a:gd name="f28" fmla="+- f20 0 f1"/>
              <a:gd name="f29" fmla="+- f21 0 f1"/>
              <a:gd name="f30" fmla="+- f15 f24 0"/>
              <a:gd name="f31" fmla="*/ f26 1 10"/>
              <a:gd name="f32" fmla="*/ f27 1 5"/>
              <a:gd name="f33" fmla="*/ f23 1 f25"/>
              <a:gd name="f34" fmla="*/ f15 1 f25"/>
              <a:gd name="f35" fmla="*/ f16 1 f25"/>
              <a:gd name="f36" fmla="*/ f22 1 f25"/>
              <a:gd name="f37" fmla="*/ f30 1 f25"/>
              <a:gd name="f38" fmla="*/ f31 1 f25"/>
              <a:gd name="f39" fmla="*/ f32 1 f25"/>
              <a:gd name="f40" fmla="*/ f34 f13 1"/>
              <a:gd name="f41" fmla="*/ f35 f13 1"/>
              <a:gd name="f42" fmla="*/ f36 f14 1"/>
              <a:gd name="f43" fmla="*/ f33 f14 1"/>
              <a:gd name="f44" fmla="*/ f39 f14 1"/>
              <a:gd name="f45" fmla="*/ f37 f13 1"/>
              <a:gd name="f46" fmla="*/ f38 f14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8">
                <a:pos x="f45" y="f43"/>
              </a:cxn>
              <a:cxn ang="f29">
                <a:pos x="f45" y="f46"/>
              </a:cxn>
            </a:cxnLst>
            <a:rect l="f40" t="f42" r="f41" b="f44"/>
            <a:pathLst>
              <a:path w="20" h="20">
                <a:moveTo>
                  <a:pt x="f5" y="f8"/>
                </a:moveTo>
                <a:arcTo wR="f9" hR="f8" stAng="f0" swAng="f7"/>
                <a:arcTo wR="f9" hR="f8" stAng="f0" swAng="f0"/>
                <a:lnTo>
                  <a:pt x="f6" y="f10"/>
                </a:lnTo>
                <a:arcTo wR="f9" hR="f8" stAng="f5" swAng="f7"/>
                <a:arcTo wR="f9" hR="f8" stAng="f5" swAng="f0"/>
                <a:close/>
              </a:path>
            </a:pathLst>
          </a:custGeom>
          <a:solidFill>
            <a:srgbClr val="FF000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F"/>
                </a:solidFill>
                <a:highlight>
                  <a:srgbClr val="FF0000"/>
                </a:highlight>
                <a:uFillTx/>
                <a:latin typeface="Arial"/>
                <a:ea typeface="DejaVu Sans"/>
                <a:cs typeface="DejaVu Sans"/>
              </a:rPr>
              <a:t>Limites des approches paramétriques</a:t>
            </a:r>
            <a:endParaRPr lang="fr-FR" sz="1000" b="0" i="0" u="none" strike="noStrike" kern="1200" cap="none" spc="-1" baseline="0">
              <a:solidFill>
                <a:srgbClr val="FFFFFF"/>
              </a:solidFill>
              <a:highlight>
                <a:srgbClr val="FF0000"/>
              </a:highlight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29"/>
          <p:cNvSpPr txBox="1"/>
          <p:nvPr/>
        </p:nvSpPr>
        <p:spPr>
          <a:xfrm>
            <a:off x="179999" y="1439997"/>
            <a:ext cx="6299996" cy="221147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A) Manque d’explicabilité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connaissances sont stockées dans les poids du modèle.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On ne peut pas retracer facilement d’où viennent les informations.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B) Coût élevé pour la mise à jour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Modifier les connaissances intégrées nécessite d’ajuster des poids, couches ou l’architecture.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Symbol"/>
              <a:buChar char="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Très coûteux en temps et ressources computationnelles, surtout pour les très grands modèles.</a:t>
            </a:r>
          </a:p>
        </p:txBody>
      </p:sp>
      <p:sp>
        <p:nvSpPr>
          <p:cNvPr id="5" name="ZoneTexte 330"/>
          <p:cNvSpPr txBox="1"/>
          <p:nvPr/>
        </p:nvSpPr>
        <p:spPr>
          <a:xfrm>
            <a:off x="2700003" y="4730035"/>
            <a:ext cx="2340004" cy="489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Solution alternative</a:t>
            </a:r>
            <a:endParaRPr lang="fr-FR" sz="14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Flèche : droite 331"/>
          <p:cNvSpPr/>
          <p:nvPr/>
        </p:nvSpPr>
        <p:spPr>
          <a:xfrm rot="5400013">
            <a:off x="3376682" y="4241193"/>
            <a:ext cx="566827" cy="413217"/>
          </a:xfrm>
          <a:custGeom>
            <a:avLst>
              <a:gd name="f0" fmla="val 17663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332"/>
          <p:cNvSpPr txBox="1"/>
          <p:nvPr/>
        </p:nvSpPr>
        <p:spPr>
          <a:xfrm>
            <a:off x="5399998" y="4751999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Connaissances non-paramétriques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Flèche : bas 333"/>
          <p:cNvSpPr/>
          <p:nvPr/>
        </p:nvSpPr>
        <p:spPr>
          <a:xfrm rot="16200004">
            <a:off x="4859999" y="4622402"/>
            <a:ext cx="179999" cy="539998"/>
          </a:xfrm>
          <a:custGeom>
            <a:avLst>
              <a:gd name="f0" fmla="val 16200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Rectangle 33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ZoneTexte 33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3CA71045-ACA9-469D-A3FE-F163D9B79B9F}" type="slidenum">
              <a:t>10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1" name="ZoneTexte 33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2" name="Rectangle 337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Parametric Knowledge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8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  <a:endParaRPr lang="fr-FR" sz="12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39"/>
          <p:cNvSpPr txBox="1"/>
          <p:nvPr/>
        </p:nvSpPr>
        <p:spPr>
          <a:xfrm>
            <a:off x="145828" y="719998"/>
            <a:ext cx="7710092" cy="6963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Contrairement aux approches paramétriques, on ne modifie pas les poids ni l’architecture du LLM.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connaissances sont stockées à l’extérieur du modèle, dans des bases de données, documents, ontologies, ou knowledge graphs.</a:t>
            </a:r>
          </a:p>
        </p:txBody>
      </p:sp>
      <p:sp>
        <p:nvSpPr>
          <p:cNvPr id="4" name="ZoneTexte 340"/>
          <p:cNvSpPr txBox="1"/>
          <p:nvPr/>
        </p:nvSpPr>
        <p:spPr>
          <a:xfrm>
            <a:off x="148681" y="1619996"/>
            <a:ext cx="5431316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1) Knowledge Graphs and Ontologies</a:t>
            </a:r>
          </a:p>
        </p:txBody>
      </p:sp>
      <p:sp>
        <p:nvSpPr>
          <p:cNvPr id="5" name="ZoneTexte 341"/>
          <p:cNvSpPr txBox="1"/>
          <p:nvPr/>
        </p:nvSpPr>
        <p:spPr>
          <a:xfrm>
            <a:off x="303315" y="1834899"/>
            <a:ext cx="7899839" cy="139715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Knowledge Graphs (KGs) et les ontologies représentent des sources externes de connaissances structurées (ex. DBpedia, Wikidata).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Contrairement à l’apprentissage paramétrique, on ne modifie aucun poids du LLM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 modèle reste intact et interroge la base externe pour récupérer des faits et relations pertinents.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342"/>
          <p:cNvSpPr txBox="1"/>
          <p:nvPr/>
        </p:nvSpPr>
        <p:spPr>
          <a:xfrm>
            <a:off x="2519089" y="3239234"/>
            <a:ext cx="5929847" cy="212202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LLMs hallucinent souvent ou produisent des erreurs factuelles.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KGs contiennent des faits précis et structurés (entités + relations).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➡️ En les combinant, on obtient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moins d’hallucinations,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plus de précision factuelle,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plus de transparence et d’explicabilité (on peut tracer la source de l’information).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Rectangle 343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344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ADD2E289-479D-4519-893C-78B1EF18893F}" type="slidenum">
              <a:t>11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345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Rectangle 346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Non-Parametric Knowledge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7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Les approches d’injection de connaissances</a:t>
            </a:r>
            <a:endParaRPr lang="fr-FR" sz="12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48"/>
          <p:cNvSpPr txBox="1"/>
          <p:nvPr/>
        </p:nvSpPr>
        <p:spPr>
          <a:xfrm>
            <a:off x="148681" y="719998"/>
            <a:ext cx="5431316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2) Retrieval-Augmented Generation (RAG)</a:t>
            </a:r>
          </a:p>
        </p:txBody>
      </p:sp>
      <p:sp>
        <p:nvSpPr>
          <p:cNvPr id="4" name="ZoneTexte 349"/>
          <p:cNvSpPr txBox="1"/>
          <p:nvPr/>
        </p:nvSpPr>
        <p:spPr>
          <a:xfrm>
            <a:off x="311042" y="1161004"/>
            <a:ext cx="8688957" cy="1718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Retrieval-Augmented Generation (RAG) est une approche non-paramétrique d’intégration de connaissance qui combine :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Un module de récupération d’information (retriever) basé sur des représentations vectorielles (embeddings),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Un modèle génératif (LLM) qui utilise le contexte récupéré pour produire une réponse plus précise et factuelle.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➡️ L’idée clé : ne pas modifier les poids du modèle, mais fournir dynamiquement des connaissances externes dans le prompt au moment de l’inférence.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Rectangle 350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351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FC032B44-7E05-4B38-B511-59DF432E519D}" type="slidenum">
              <a:t>12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352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Rectangle 353"/>
          <p:cNvSpPr/>
          <p:nvPr/>
        </p:nvSpPr>
        <p:spPr>
          <a:xfrm>
            <a:off x="0" y="251999"/>
            <a:ext cx="2520004" cy="359999"/>
          </a:xfrm>
          <a:prstGeom prst="rect">
            <a:avLst/>
          </a:prstGeom>
          <a:solidFill>
            <a:srgbClr val="90EE9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Non-Parametric Knowledge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54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55"/>
          <p:cNvSpPr txBox="1"/>
          <p:nvPr/>
        </p:nvSpPr>
        <p:spPr>
          <a:xfrm>
            <a:off x="309935" y="1032567"/>
            <a:ext cx="7020004" cy="3740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1)  Manque d’explicabilité (Explainability in Knowledge-Augmented LLMs)</a:t>
            </a:r>
          </a:p>
        </p:txBody>
      </p:sp>
      <p:sp>
        <p:nvSpPr>
          <p:cNvPr id="4" name="ZoneTexte 356"/>
          <p:cNvSpPr txBox="1"/>
          <p:nvPr/>
        </p:nvSpPr>
        <p:spPr>
          <a:xfrm>
            <a:off x="374949" y="1416606"/>
            <a:ext cx="9433078" cy="345600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Problème</a:t>
            </a: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LLMs enrichis avec des connaissances externes (RAG, KG, etc.) sont opaques : on ne comprend pas comment la connaissance intégrée influence les décisions.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Difficile de tracer la provenance des faits (citations, sources).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highlight>
                  <a:srgbClr val="008B8B"/>
                </a:highlight>
                <a:uFillTx/>
                <a:latin typeface="Arial"/>
                <a:ea typeface="DejaVu Sans"/>
                <a:cs typeface="DejaVu Sans"/>
              </a:rPr>
              <a:t> pistes de recherche :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1" i="0" u="none" strike="noStrike" kern="1200" cap="none" spc="-1" baseline="0">
              <a:solidFill>
                <a:srgbClr val="000000"/>
              </a:solidFill>
              <a:highlight>
                <a:srgbClr val="008B8B"/>
              </a:highlight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Développer des techniques permettant :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d’expliquer comment les connaissances externes influencent la sortie du modèle,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de fournir des citations fiables pour chaque réponse,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d’identifier les biais dans les sources ou les inférences,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de rendre visible le raisonnement du modèle (traçabilité du graphe de raisonnement).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Organigramme : Alternative 357"/>
          <p:cNvSpPr/>
          <p:nvPr/>
        </p:nvSpPr>
        <p:spPr>
          <a:xfrm>
            <a:off x="3815279" y="335164"/>
            <a:ext cx="3060003" cy="34596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abs f3"/>
              <a:gd name="f8" fmla="abs f4"/>
              <a:gd name="f9" fmla="abs f5"/>
              <a:gd name="f10" fmla="val f6"/>
              <a:gd name="f11" fmla="?: f7 f3 1"/>
              <a:gd name="f12" fmla="?: f8 f4 1"/>
              <a:gd name="f13" fmla="?: f9 f5 1"/>
              <a:gd name="f14" fmla="*/ f11 1 21600"/>
              <a:gd name="f15" fmla="*/ f12 1 21600"/>
              <a:gd name="f16" fmla="*/ 21600 f11 1"/>
              <a:gd name="f17" fmla="*/ 21600 f12 1"/>
              <a:gd name="f18" fmla="min f15 f14"/>
              <a:gd name="f19" fmla="*/ f16 1 f13"/>
              <a:gd name="f20" fmla="*/ f17 1 f13"/>
              <a:gd name="f21" fmla="val f19"/>
              <a:gd name="f22" fmla="val f20"/>
              <a:gd name="f23" fmla="*/ f10 f18 1"/>
              <a:gd name="f24" fmla="+- f22 0 f10"/>
              <a:gd name="f25" fmla="+- f21 0 f10"/>
              <a:gd name="f26" fmla="*/ f21 f18 1"/>
              <a:gd name="f27" fmla="*/ f22 f18 1"/>
              <a:gd name="f28" fmla="min f25 f24"/>
              <a:gd name="f29" fmla="*/ f28 1 6"/>
              <a:gd name="f30" fmla="+- f21 0 f29"/>
              <a:gd name="f31" fmla="+- f22 0 f29"/>
              <a:gd name="f32" fmla="*/ f29 29289 1"/>
              <a:gd name="f33" fmla="*/ f29 f18 1"/>
              <a:gd name="f34" fmla="*/ f32 1 100000"/>
              <a:gd name="f35" fmla="*/ f30 f18 1"/>
              <a:gd name="f36" fmla="*/ f31 f18 1"/>
              <a:gd name="f37" fmla="+- f21 0 f34"/>
              <a:gd name="f38" fmla="+- f22 0 f34"/>
              <a:gd name="f39" fmla="*/ f34 f18 1"/>
              <a:gd name="f40" fmla="*/ f37 f18 1"/>
              <a:gd name="f41" fmla="*/ f3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9" t="f39" r="f40" b="f41"/>
            <a:pathLst>
              <a:path>
                <a:moveTo>
                  <a:pt x="f23" y="f33"/>
                </a:moveTo>
                <a:arcTo wR="f33" hR="f33" stAng="f0" swAng="f1"/>
                <a:lnTo>
                  <a:pt x="f35" y="f23"/>
                </a:lnTo>
                <a:arcTo wR="f33" hR="f33" stAng="f2" swAng="f1"/>
                <a:lnTo>
                  <a:pt x="f26" y="f36"/>
                </a:lnTo>
                <a:arcTo wR="f33" hR="f33" stAng="f6" swAng="f1"/>
                <a:lnTo>
                  <a:pt x="f33" y="f27"/>
                </a:lnTo>
                <a:arcTo wR="f33" hR="f33" stAng="f1" swAng="f1"/>
                <a:close/>
              </a:path>
            </a:pathLst>
          </a:custGeom>
          <a:solidFill>
            <a:srgbClr val="FF000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4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Rectangle 358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359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F6860979-AFF2-4D4C-901A-63AA13A9A9B1}" type="slidenum">
              <a:t>13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360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361"/>
          <p:cNvSpPr txBox="1"/>
          <p:nvPr/>
        </p:nvSpPr>
        <p:spPr>
          <a:xfrm>
            <a:off x="55796" y="0"/>
            <a:ext cx="1924199" cy="2905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2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63"/>
          <p:cNvSpPr txBox="1"/>
          <p:nvPr/>
        </p:nvSpPr>
        <p:spPr>
          <a:xfrm>
            <a:off x="179999" y="702716"/>
            <a:ext cx="7020004" cy="3740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2)    Optimizing LLM Fine-tuning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64"/>
          <p:cNvSpPr txBox="1"/>
          <p:nvPr/>
        </p:nvSpPr>
        <p:spPr>
          <a:xfrm>
            <a:off x="359999" y="1079997"/>
            <a:ext cx="9433078" cy="347940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Problème</a:t>
            </a: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 fine-tuning reste coûteux et sujet à plusieurs phénomènes indésirables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Après fine-tuning, le modèle exagère les informations peu fréquentes et oublie un peu les informations très courantes.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Le modèle regarde trop certains mots importants et ignore d’autres informations utiles.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highlight>
                  <a:srgbClr val="008B8B"/>
                </a:highlight>
                <a:uFillTx/>
                <a:latin typeface="Arial"/>
                <a:ea typeface="DejaVu Sans"/>
                <a:cs typeface="DejaVu Sans"/>
              </a:rPr>
              <a:t> pistes de recherche :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Proposer des méthodes de fine-tuning plus stables et équilibrées, capables de préserver la distribution naturelle des données.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Développer des approches hybrides combinant fine-tuning et retrieval dynamique (ex. RAG ou adapters spécialisés).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Réduire les coûts computationnels tout en conservant la fidélité factuelle.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Organigramme : Alternative 365"/>
          <p:cNvSpPr/>
          <p:nvPr/>
        </p:nvSpPr>
        <p:spPr>
          <a:xfrm>
            <a:off x="3780001" y="359999"/>
            <a:ext cx="3060003" cy="34596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abs f3"/>
              <a:gd name="f8" fmla="abs f4"/>
              <a:gd name="f9" fmla="abs f5"/>
              <a:gd name="f10" fmla="val f6"/>
              <a:gd name="f11" fmla="?: f7 f3 1"/>
              <a:gd name="f12" fmla="?: f8 f4 1"/>
              <a:gd name="f13" fmla="?: f9 f5 1"/>
              <a:gd name="f14" fmla="*/ f11 1 21600"/>
              <a:gd name="f15" fmla="*/ f12 1 21600"/>
              <a:gd name="f16" fmla="*/ 21600 f11 1"/>
              <a:gd name="f17" fmla="*/ 21600 f12 1"/>
              <a:gd name="f18" fmla="min f15 f14"/>
              <a:gd name="f19" fmla="*/ f16 1 f13"/>
              <a:gd name="f20" fmla="*/ f17 1 f13"/>
              <a:gd name="f21" fmla="val f19"/>
              <a:gd name="f22" fmla="val f20"/>
              <a:gd name="f23" fmla="*/ f10 f18 1"/>
              <a:gd name="f24" fmla="+- f22 0 f10"/>
              <a:gd name="f25" fmla="+- f21 0 f10"/>
              <a:gd name="f26" fmla="*/ f21 f18 1"/>
              <a:gd name="f27" fmla="*/ f22 f18 1"/>
              <a:gd name="f28" fmla="min f25 f24"/>
              <a:gd name="f29" fmla="*/ f28 1 6"/>
              <a:gd name="f30" fmla="+- f21 0 f29"/>
              <a:gd name="f31" fmla="+- f22 0 f29"/>
              <a:gd name="f32" fmla="*/ f29 29289 1"/>
              <a:gd name="f33" fmla="*/ f29 f18 1"/>
              <a:gd name="f34" fmla="*/ f32 1 100000"/>
              <a:gd name="f35" fmla="*/ f30 f18 1"/>
              <a:gd name="f36" fmla="*/ f31 f18 1"/>
              <a:gd name="f37" fmla="+- f21 0 f34"/>
              <a:gd name="f38" fmla="+- f22 0 f34"/>
              <a:gd name="f39" fmla="*/ f34 f18 1"/>
              <a:gd name="f40" fmla="*/ f37 f18 1"/>
              <a:gd name="f41" fmla="*/ f3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9" t="f39" r="f40" b="f41"/>
            <a:pathLst>
              <a:path>
                <a:moveTo>
                  <a:pt x="f23" y="f33"/>
                </a:moveTo>
                <a:arcTo wR="f33" hR="f33" stAng="f0" swAng="f1"/>
                <a:lnTo>
                  <a:pt x="f35" y="f23"/>
                </a:lnTo>
                <a:arcTo wR="f33" hR="f33" stAng="f2" swAng="f1"/>
                <a:lnTo>
                  <a:pt x="f26" y="f36"/>
                </a:lnTo>
                <a:arcTo wR="f33" hR="f33" stAng="f6" swAng="f1"/>
                <a:lnTo>
                  <a:pt x="f33" y="f27"/>
                </a:lnTo>
                <a:arcTo wR="f33" hR="f33" stAng="f1" swAng="f1"/>
                <a:close/>
              </a:path>
            </a:pathLst>
          </a:custGeom>
          <a:solidFill>
            <a:srgbClr val="FF000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4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Rectangle 366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367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DE5DAA12-B6A6-48EB-A6D3-8C66A268FD8C}" type="slidenum">
              <a:t>14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368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369"/>
          <p:cNvSpPr txBox="1"/>
          <p:nvPr/>
        </p:nvSpPr>
        <p:spPr>
          <a:xfrm>
            <a:off x="56162" y="356"/>
            <a:ext cx="1924199" cy="2905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71"/>
          <p:cNvSpPr txBox="1"/>
          <p:nvPr/>
        </p:nvSpPr>
        <p:spPr>
          <a:xfrm>
            <a:off x="179999" y="719998"/>
            <a:ext cx="7020004" cy="37404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3)   Interactive Knowledge Retrieval and Integration</a:t>
            </a:r>
          </a:p>
        </p:txBody>
      </p:sp>
      <p:sp>
        <p:nvSpPr>
          <p:cNvPr id="4" name="ZoneTexte 372"/>
          <p:cNvSpPr txBox="1"/>
          <p:nvPr/>
        </p:nvSpPr>
        <p:spPr>
          <a:xfrm>
            <a:off x="359999" y="1079997"/>
            <a:ext cx="9433078" cy="39718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Problème</a:t>
            </a: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: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systèmes RAG ou KG actuels récupèrent la connaissance de manière statique (une seule fois par requête).</a:t>
            </a: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Mais les besoins réels nécessitent une intégration dynamique et itérative de la connaissance.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1" i="0" u="none" strike="noStrike" kern="1200" cap="none" spc="-1" baseline="0">
                <a:solidFill>
                  <a:srgbClr val="000000"/>
                </a:solidFill>
                <a:highlight>
                  <a:srgbClr val="008B8B"/>
                </a:highlight>
                <a:uFillTx/>
                <a:latin typeface="Arial"/>
                <a:ea typeface="DejaVu Sans"/>
                <a:cs typeface="DejaVu Sans"/>
              </a:rPr>
              <a:t> pistes de recherche :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15898" marR="0" lvl="0" indent="-215898" algn="l" defTabSz="914400" rtl="0" fontAlgn="auto" hangingPunct="1">
              <a:lnSpc>
                <a:spcPct val="15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Développer des systèmes d’iNLP (interactive NLP) capables de dialoguer avec plusieurs sources externes (KGs, bases documentaires, APIs…).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Explorer les Knowledge Graphs évolutifs ou dynamiques, capables d’être mis à jour en temps réel.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Intégrer LLMs, Semantic Web technologies (KGs, ontologies) et interaction dynamique pour créer des systèmes adaptatifs.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Exemple : un modèle qui reformule sa requête ou ajuste ses sources selon la réponse partielle reçue.</a:t>
            </a:r>
          </a:p>
          <a:p>
            <a:pPr marL="215898" marR="0" lvl="0" indent="-215898" algn="l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Clr>
                <a:srgbClr val="000000"/>
              </a:buClr>
              <a:buSzPct val="45000"/>
              <a:buFont typeface="Wingdings"/>
              <a:buChar char="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Organigramme : Alternative 373"/>
          <p:cNvSpPr/>
          <p:nvPr/>
        </p:nvSpPr>
        <p:spPr>
          <a:xfrm>
            <a:off x="3780001" y="359999"/>
            <a:ext cx="3060003" cy="345963"/>
          </a:xfrm>
          <a:custGeom>
            <a:avLst/>
            <a:gdLst>
              <a:gd name="f0" fmla="val 10800000"/>
              <a:gd name="f1" fmla="val 5400000"/>
              <a:gd name="f2" fmla="val 16200000"/>
              <a:gd name="f3" fmla="val w"/>
              <a:gd name="f4" fmla="val h"/>
              <a:gd name="f5" fmla="val ss"/>
              <a:gd name="f6" fmla="val 0"/>
              <a:gd name="f7" fmla="abs f3"/>
              <a:gd name="f8" fmla="abs f4"/>
              <a:gd name="f9" fmla="abs f5"/>
              <a:gd name="f10" fmla="val f6"/>
              <a:gd name="f11" fmla="?: f7 f3 1"/>
              <a:gd name="f12" fmla="?: f8 f4 1"/>
              <a:gd name="f13" fmla="?: f9 f5 1"/>
              <a:gd name="f14" fmla="*/ f11 1 21600"/>
              <a:gd name="f15" fmla="*/ f12 1 21600"/>
              <a:gd name="f16" fmla="*/ 21600 f11 1"/>
              <a:gd name="f17" fmla="*/ 21600 f12 1"/>
              <a:gd name="f18" fmla="min f15 f14"/>
              <a:gd name="f19" fmla="*/ f16 1 f13"/>
              <a:gd name="f20" fmla="*/ f17 1 f13"/>
              <a:gd name="f21" fmla="val f19"/>
              <a:gd name="f22" fmla="val f20"/>
              <a:gd name="f23" fmla="*/ f10 f18 1"/>
              <a:gd name="f24" fmla="+- f22 0 f10"/>
              <a:gd name="f25" fmla="+- f21 0 f10"/>
              <a:gd name="f26" fmla="*/ f21 f18 1"/>
              <a:gd name="f27" fmla="*/ f22 f18 1"/>
              <a:gd name="f28" fmla="min f25 f24"/>
              <a:gd name="f29" fmla="*/ f28 1 6"/>
              <a:gd name="f30" fmla="+- f21 0 f29"/>
              <a:gd name="f31" fmla="+- f22 0 f29"/>
              <a:gd name="f32" fmla="*/ f29 29289 1"/>
              <a:gd name="f33" fmla="*/ f29 f18 1"/>
              <a:gd name="f34" fmla="*/ f32 1 100000"/>
              <a:gd name="f35" fmla="*/ f30 f18 1"/>
              <a:gd name="f36" fmla="*/ f31 f18 1"/>
              <a:gd name="f37" fmla="+- f21 0 f34"/>
              <a:gd name="f38" fmla="+- f22 0 f34"/>
              <a:gd name="f39" fmla="*/ f34 f18 1"/>
              <a:gd name="f40" fmla="*/ f37 f18 1"/>
              <a:gd name="f41" fmla="*/ f38 f1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39" t="f39" r="f40" b="f41"/>
            <a:pathLst>
              <a:path>
                <a:moveTo>
                  <a:pt x="f23" y="f33"/>
                </a:moveTo>
                <a:arcTo wR="f33" hR="f33" stAng="f0" swAng="f1"/>
                <a:lnTo>
                  <a:pt x="f35" y="f23"/>
                </a:lnTo>
                <a:arcTo wR="f33" hR="f33" stAng="f2" swAng="f1"/>
                <a:lnTo>
                  <a:pt x="f26" y="f36"/>
                </a:lnTo>
                <a:arcTo wR="f33" hR="f33" stAng="f6" swAng="f1"/>
                <a:lnTo>
                  <a:pt x="f33" y="f27"/>
                </a:lnTo>
                <a:arcTo wR="f33" hR="f33" stAng="f1" swAng="f1"/>
                <a:close/>
              </a:path>
            </a:pathLst>
          </a:custGeom>
          <a:solidFill>
            <a:srgbClr val="FF0000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1" i="0" u="none" strike="noStrike" kern="1200" cap="none" spc="-1" baseline="0">
                <a:solidFill>
                  <a:srgbClr val="FFFFFF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4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D107031A-1AFE-4825-A789-A5483C7BFBA0}" type="slidenum">
              <a:t>15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377"/>
          <p:cNvSpPr txBox="1"/>
          <p:nvPr/>
        </p:nvSpPr>
        <p:spPr>
          <a:xfrm>
            <a:off x="56162" y="356"/>
            <a:ext cx="1924199" cy="2905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Problèmes identifiés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8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ZoneTexte 379"/>
          <p:cNvSpPr txBox="1"/>
          <p:nvPr/>
        </p:nvSpPr>
        <p:spPr>
          <a:xfrm>
            <a:off x="7560003" y="3060003"/>
            <a:ext cx="2159995" cy="61560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Xie</a:t>
            </a: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, et al,2023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Rectangle 380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81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CDC1D052-DCB2-466C-8DD0-CB7F7D94292C}" type="slidenum">
              <a:t>16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382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Rectangle 383"/>
          <p:cNvSpPr/>
          <p:nvPr/>
        </p:nvSpPr>
        <p:spPr>
          <a:xfrm>
            <a:off x="900272" y="1570024"/>
            <a:ext cx="7740002" cy="1259997"/>
          </a:xfrm>
          <a:prstGeom prst="rect">
            <a:avLst/>
          </a:prstGeom>
          <a:solidFill>
            <a:srgbClr val="0070C0"/>
          </a:solidFill>
          <a:ln w="12600">
            <a:solidFill>
              <a:srgbClr val="18A303"/>
            </a:solidFill>
            <a:prstDash val="solid"/>
            <a:miter/>
          </a:ln>
        </p:spPr>
        <p:txBody>
          <a:bodyPr vert="horz" wrap="square" lIns="96121" tIns="51124" rIns="96121" bIns="51124" anchor="ctr" anchorCtr="1" compatLnSpc="1">
            <a:noAutofit/>
          </a:bodyPr>
          <a:lstStyle/>
          <a:p>
            <a:pPr marL="0" marR="0" lvl="0" indent="0" algn="ctr" defTabSz="658441" rtl="0" fontAlgn="auto" hangingPunct="1">
              <a:lnSpc>
                <a:spcPct val="100000"/>
              </a:lnSpc>
              <a:spcBef>
                <a:spcPts val="1190"/>
              </a:spcBef>
              <a:spcAft>
                <a:spcPts val="99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Adaptive Chameleon or Stubborn Sloth: Revealing the behavior of large language models in knowledge conflicts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graphicFrame>
        <p:nvGraphicFramePr>
          <p:cNvPr id="8" name="Tableau 2"/>
          <p:cNvGraphicFramePr>
            <a:graphicFrameLocks noGrp="1"/>
          </p:cNvGraphicFramePr>
          <p:nvPr/>
        </p:nvGraphicFramePr>
        <p:xfrm>
          <a:off x="1058555" y="3508689"/>
          <a:ext cx="7958672" cy="1447796"/>
        </p:xfrm>
        <a:graphic>
          <a:graphicData uri="http://schemas.openxmlformats.org/drawingml/2006/table">
            <a:tbl>
              <a:tblPr bandRow="1">
                <a:effectLst/>
                <a:tableStyleId>{5C22544A-7EE6-4342-B048-85BDC9FD1C3A}</a:tableStyleId>
              </a:tblPr>
              <a:tblGrid>
                <a:gridCol w="1989670">
                  <a:extLst>
                    <a:ext uri="{9D8B030D-6E8A-4147-A177-3AD203B41FA5}">
                      <a16:colId xmlns:a16="http://schemas.microsoft.com/office/drawing/2014/main" val="3087053542"/>
                    </a:ext>
                  </a:extLst>
                </a:gridCol>
                <a:gridCol w="1989670">
                  <a:extLst>
                    <a:ext uri="{9D8B030D-6E8A-4147-A177-3AD203B41FA5}">
                      <a16:colId xmlns:a16="http://schemas.microsoft.com/office/drawing/2014/main" val="2902513628"/>
                    </a:ext>
                  </a:extLst>
                </a:gridCol>
                <a:gridCol w="1989670">
                  <a:extLst>
                    <a:ext uri="{9D8B030D-6E8A-4147-A177-3AD203B41FA5}">
                      <a16:colId xmlns:a16="http://schemas.microsoft.com/office/drawing/2014/main" val="826518040"/>
                    </a:ext>
                  </a:extLst>
                </a:gridCol>
                <a:gridCol w="1989670">
                  <a:extLst>
                    <a:ext uri="{9D8B030D-6E8A-4147-A177-3AD203B41FA5}">
                      <a16:colId xmlns:a16="http://schemas.microsoft.com/office/drawing/2014/main" val="1573682021"/>
                    </a:ext>
                  </a:extLst>
                </a:gridCol>
              </a:tblGrid>
              <a:tr h="31121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kern="1200">
                          <a:solidFill>
                            <a:srgbClr val="003399"/>
                          </a:solidFill>
                          <a:latin typeface="Arial"/>
                          <a:ea typeface="DejaVu Sans"/>
                          <a:cs typeface="DejaVu Sans"/>
                        </a:rPr>
                        <a:t>Title 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kern="1200">
                          <a:solidFill>
                            <a:srgbClr val="003399"/>
                          </a:solidFill>
                          <a:latin typeface="Arial"/>
                          <a:ea typeface="DejaVu Sans"/>
                          <a:cs typeface="DejaVu Sans"/>
                        </a:rPr>
                        <a:t>Acronym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kern="1200">
                          <a:solidFill>
                            <a:srgbClr val="003399"/>
                          </a:solidFill>
                          <a:latin typeface="Arial"/>
                          <a:ea typeface="DejaVu Sans"/>
                          <a:cs typeface="DejaVu Sans"/>
                        </a:rPr>
                        <a:t>Source 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800" b="1" kern="1200">
                          <a:solidFill>
                            <a:srgbClr val="003399"/>
                          </a:solidFill>
                          <a:latin typeface="Arial"/>
                          <a:ea typeface="DejaVu Sans"/>
                          <a:cs typeface="DejaVu Sans"/>
                        </a:rPr>
                        <a:t>Rank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658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fontAlgn="auto">
                        <a:buNone/>
                      </a:pPr>
                      <a:r>
                        <a:rPr lang="fr-FR"/>
                        <a:t>International Conference on Learning Representations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auto">
                        <a:buNone/>
                      </a:pPr>
                      <a:r>
                        <a:rPr lang="fr-FR"/>
                        <a:t>ICLR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auto">
                        <a:buNone/>
                      </a:pPr>
                      <a:r>
                        <a:rPr lang="fr-FR"/>
                        <a:t>CORE2023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tc>
                  <a:txBody>
                    <a:bodyPr/>
                    <a:lstStyle/>
                    <a:p>
                      <a:pPr lvl="0" fontAlgn="auto">
                        <a:buNone/>
                      </a:pPr>
                      <a:r>
                        <a:rPr lang="fr-FR"/>
                        <a:t>A*</a:t>
                      </a:r>
                    </a:p>
                  </a:txBody>
                  <a:tcPr marL="57150" marR="95253" marT="19046" marB="19046" anchor="ctr">
                    <a:lnL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8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8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DD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03592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1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Arial"/>
              </a:rPr>
              <a:t>Contexte général</a:t>
            </a:r>
            <a:endParaRPr lang="fr-FR" sz="10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8C9BE07C-A2A7-46B9-B1B3-B27F6BA77F4B}" type="slidenum">
              <a:t>17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1"/>
          <p:cNvSpPr txBox="1"/>
          <p:nvPr/>
        </p:nvSpPr>
        <p:spPr>
          <a:xfrm>
            <a:off x="403058" y="710964"/>
            <a:ext cx="4514493" cy="6121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LLMs ont une mémoire paramétrique (faits appris) mais elle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peut être dépassée ou erronée.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2"/>
          <p:cNvSpPr txBox="1"/>
          <p:nvPr/>
        </p:nvSpPr>
        <p:spPr>
          <a:xfrm>
            <a:off x="469535" y="1724329"/>
            <a:ext cx="4206523" cy="6121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Comment les LLMs réagissent-ils face à des informations externes contradictoires (contre-mémoire) ?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4"/>
          <p:cNvSpPr txBox="1"/>
          <p:nvPr/>
        </p:nvSpPr>
        <p:spPr>
          <a:xfrm>
            <a:off x="312971" y="2992913"/>
            <a:ext cx="4634682" cy="6121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Étudier systématiquement les comportements des LLMs en cas de conflits de connaissances.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5"/>
          <p:cNvSpPr txBox="1"/>
          <p:nvPr/>
        </p:nvSpPr>
        <p:spPr>
          <a:xfrm>
            <a:off x="110267" y="3675997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DejaVu Sans"/>
              </a:rPr>
              <a:t>Concepts clés: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0" name="ZoneTexte 6"/>
          <p:cNvSpPr txBox="1"/>
          <p:nvPr/>
        </p:nvSpPr>
        <p:spPr>
          <a:xfrm>
            <a:off x="267928" y="4216462"/>
            <a:ext cx="8630875" cy="64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Mémoire paramétrique : 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Connaissance interne du modèle.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Contre-mémoire :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Information externe qui contredit la mémoire.</a:t>
            </a:r>
          </a:p>
        </p:txBody>
      </p:sp>
      <p:sp>
        <p:nvSpPr>
          <p:cNvPr id="11" name="ZoneTexte 7"/>
          <p:cNvSpPr txBox="1"/>
          <p:nvPr/>
        </p:nvSpPr>
        <p:spPr>
          <a:xfrm>
            <a:off x="110267" y="403186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DejaVu Sans"/>
              </a:rPr>
              <a:t>Contexte :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2" name="ZoneTexte 8"/>
          <p:cNvSpPr txBox="1"/>
          <p:nvPr/>
        </p:nvSpPr>
        <p:spPr>
          <a:xfrm>
            <a:off x="110267" y="1416551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DejaVu Sans"/>
              </a:rPr>
              <a:t>Problème :</a:t>
            </a:r>
            <a:endParaRPr lang="fr-FR" sz="1400" b="0" i="0" u="none" strike="noStrike" kern="1200" cap="none" spc="0" baseline="0">
              <a:solidFill>
                <a:srgbClr val="FF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13" name="ZoneTexte 9"/>
          <p:cNvSpPr txBox="1"/>
          <p:nvPr/>
        </p:nvSpPr>
        <p:spPr>
          <a:xfrm>
            <a:off x="140296" y="2595067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DejaVu Sans"/>
              </a:rPr>
              <a:t>Objectif de l’article :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14" name="Image 10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929" y="526255"/>
            <a:ext cx="5239987" cy="4142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1841E15F-C953-460F-BC03-3A8B956099EC}" type="slidenum">
              <a:t>18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166" y="245543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Méthodologie – 5 étapes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" y="552334"/>
            <a:ext cx="10078763" cy="4878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B88E63A0-EC7A-4E15-843E-DA2C6932165A}" type="slidenum">
              <a:t>19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166" y="245543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Etape 1 : Parametric Memory Elicitation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1"/>
          <p:cNvSpPr txBox="1"/>
          <p:nvPr/>
        </p:nvSpPr>
        <p:spPr>
          <a:xfrm>
            <a:off x="155310" y="553312"/>
            <a:ext cx="9231809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Découvrir ce que le LLM sait déjà sans aucune aide extérieure.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2"/>
          <p:cNvSpPr txBox="1"/>
          <p:nvPr/>
        </p:nvSpPr>
        <p:spPr>
          <a:xfrm>
            <a:off x="155310" y="823545"/>
            <a:ext cx="9614897" cy="10156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Méthode utilisée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: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Closed-book QA → le modèle doit répondre à une question uniquement avec ses connaissances internes, sans accès à des sources externes.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4"/>
          <p:cNvSpPr txBox="1"/>
          <p:nvPr/>
        </p:nvSpPr>
        <p:spPr>
          <a:xfrm>
            <a:off x="380536" y="1581692"/>
            <a:ext cx="9006455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POPQA 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: Questions sur des entités spécifiques.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STRATEGYQA 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: Questions nécessitant un raisonnement multi-étapes.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10" name="Image 5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98" y="2337572"/>
            <a:ext cx="7885364" cy="3027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7863ED7D-EDFD-4409-9121-CD3D94EC342B}" type="slidenum">
              <a:t>20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166" y="245543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Etape 2 : Counter-memory Construction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3"/>
          <p:cNvSpPr txBox="1"/>
          <p:nvPr/>
        </p:nvSpPr>
        <p:spPr>
          <a:xfrm>
            <a:off x="395551" y="703438"/>
            <a:ext cx="8660922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Objectif :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Créer une mémoire externe qui contredit la mémoire interne (parametric memory) du modèle. Cette mémoire est appelée counter-memory et sert à tester la réaction du LLM face à un conflit de connaissances.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6"/>
          <p:cNvSpPr txBox="1"/>
          <p:nvPr/>
        </p:nvSpPr>
        <p:spPr>
          <a:xfrm>
            <a:off x="395551" y="1529151"/>
            <a:ext cx="5040309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Strategies: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​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95551" y="1911982"/>
            <a:ext cx="8908807" cy="30469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1 - Prendre la réponse de la mémoire paramétrique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Exemple du Step 1 :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le modèle répondait “Demis Hassabis” comme chef scientifique de DeepMind.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2 - Créer une contre-réponse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POPQA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(questions sur des entités) : remplacer l’entité par une autre du même type.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Exemple : “Demis Hassabis” → “Jeff Dean”.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STRATEGYQA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(questions nécessitant un raisonnement) : inverser la réponse.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Exemple : transformer une phrase positive en phrase négative.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B08300C2-8357-4379-9780-DE74612F8AB4}" type="slidenum">
              <a:t>21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166" y="245543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Etape 2 : Counter-memory Construction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1"/>
          <p:cNvSpPr txBox="1"/>
          <p:nvPr/>
        </p:nvSpPr>
        <p:spPr>
          <a:xfrm>
            <a:off x="320478" y="1063748"/>
            <a:ext cx="8893783" cy="13849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3  - Générer une preuve cohérente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Avec la contre-réponse (“Jeff Dean”), les auteurs demandent à un LLM (ChatGPT) de fabriquer un texte qui soutient cette fausse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 réponse.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Cette preuve devient la contre-mémoire, qui semble crédible mais est factuellement incorrecte par rapport à la mémoire interne.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2"/>
          <p:cNvSpPr txBox="1"/>
          <p:nvPr/>
        </p:nvSpPr>
        <p:spPr>
          <a:xfrm>
            <a:off x="5166" y="2835280"/>
            <a:ext cx="5040309" cy="584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Arial"/>
              </a:rPr>
              <a:t>Etape 3 : </a:t>
            </a:r>
            <a:r>
              <a:rPr lang="en-US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DejaVu Sans"/>
                <a:cs typeface="Arial"/>
              </a:rPr>
              <a:t>Entailment Checking</a:t>
            </a:r>
            <a:endParaRPr lang="fr-FR" sz="1400" b="0" i="0" u="none" strike="noStrike" kern="1200" cap="none" spc="0" baseline="0">
              <a:solidFill>
                <a:srgbClr val="FF0000"/>
              </a:solidFill>
              <a:uFillTx/>
              <a:latin typeface="Arial"/>
              <a:ea typeface="DejaVu Sans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4"/>
          <p:cNvSpPr txBox="1"/>
          <p:nvPr/>
        </p:nvSpPr>
        <p:spPr>
          <a:xfrm>
            <a:off x="320478" y="3548384"/>
            <a:ext cx="8713500" cy="83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Consiste à vérifier, à l’aide d’un modèle NLI (DeBERTa-V2) , que chaque preuve (mémoire ou contre-mémoire) soutient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 réellement la réponse ou la contre-réponse correspondante.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E33AF9B3-56DE-437D-8F6D-531FC9E71C99}" type="slidenum">
              <a:t>22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7716" y="343128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Etape 4 :Answer Consistency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3"/>
          <p:cNvSpPr txBox="1"/>
          <p:nvPr/>
        </p:nvSpPr>
        <p:spPr>
          <a:xfrm>
            <a:off x="260421" y="1011207"/>
            <a:ext cx="9427107" cy="20313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chercheurs prennent la mémoire paramétrique extraite à l’étape 1 (par exemple : “Demis Hassabis est le chef scientifique de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DeepMind”).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- Ils la présentent comme preuve explicite au LLM et lui demandent de répondre à la même question.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 Si le LLM donne la même réponse, cela montre que sa mémoire interne est cohérente et “ferme”.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Si le LLM change de réponse, ça signifie que sa mémoire n’est pas sûre, et cet exemple est éliminé.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Méthodologie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19E191D2-5517-47AA-826C-EC97E0869B07}" type="slidenum">
              <a:t>23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6" name="Image 1" descr="Une image contenant texte, Appareils électroniques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74" y="530672"/>
            <a:ext cx="9552947" cy="4606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B03169BA-97D5-4F45-8C07-00892D5ECEE0}" type="slidenum">
              <a:t>24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7716" y="343128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1"/>
          <p:cNvSpPr txBox="1"/>
          <p:nvPr/>
        </p:nvSpPr>
        <p:spPr>
          <a:xfrm>
            <a:off x="485637" y="988685"/>
            <a:ext cx="9059043" cy="369331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Problème : </a:t>
            </a:r>
            <a:endParaRPr lang="fr-FR" sz="1200" b="1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Quand un LLM génère un</a:t>
            </a: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e réponse lib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re, il peut mélanger la mémoire paramétrique  (vraie réponse) et la contre-mémoire (fausse réponse).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                Il devient difficile de savoir exactement ce qu’il choisit.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Solution :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transforme le problème en question à choix multiples (multiple-choice QA) :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 Option 1 : Mémoire paramétrique (Mem-Ans)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Option 2 : Contre-mémoire (Ctr-Ans)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Option 3 : “Incertitude” (Uncertain)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2"/>
          <p:cNvSpPr txBox="1"/>
          <p:nvPr/>
        </p:nvSpPr>
        <p:spPr>
          <a:xfrm>
            <a:off x="1619265" y="4223970"/>
            <a:ext cx="6399922" cy="55399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Cela permet de déterminer clairement la réponse que le LLM adopte.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Flèche : droite 4"/>
          <p:cNvSpPr/>
          <p:nvPr/>
        </p:nvSpPr>
        <p:spPr>
          <a:xfrm>
            <a:off x="750045" y="1942331"/>
            <a:ext cx="376723" cy="212936"/>
          </a:xfrm>
          <a:custGeom>
            <a:avLst>
              <a:gd name="f0" fmla="val 15496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0"/>
              <a:gd name="f11" fmla="+- 0 0 180"/>
              <a:gd name="f12" fmla="*/ f5 1 21600"/>
              <a:gd name="f13" fmla="*/ f6 1 21600"/>
              <a:gd name="f14" fmla="pin 0 f0 21600"/>
              <a:gd name="f15" fmla="pin 0 f1 10800"/>
              <a:gd name="f16" fmla="*/ f10 f2 1"/>
              <a:gd name="f17" fmla="*/ f11 f2 1"/>
              <a:gd name="f18" fmla="val f15"/>
              <a:gd name="f19" fmla="val f14"/>
              <a:gd name="f20" fmla="+- 21600 0 f15"/>
              <a:gd name="f21" fmla="*/ f14 f12 1"/>
              <a:gd name="f22" fmla="*/ f15 f13 1"/>
              <a:gd name="f23" fmla="*/ 0 f12 1"/>
              <a:gd name="f24" fmla="*/ 0 f13 1"/>
              <a:gd name="f25" fmla="*/ f16 1 f4"/>
              <a:gd name="f26" fmla="*/ 21600 f13 1"/>
              <a:gd name="f27" fmla="*/ f17 1 f4"/>
              <a:gd name="f28" fmla="+- 21600 0 f19"/>
              <a:gd name="f29" fmla="*/ f20 f13 1"/>
              <a:gd name="f30" fmla="*/ f18 f13 1"/>
              <a:gd name="f31" fmla="*/ f19 f12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2 1"/>
            </a:gdLst>
            <a:ahLst>
              <a:ahXY gdRefX="f0" minX="f7" maxX="f8" gdRefY="f1" minY="f7" maxY="f9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31" y="f24"/>
              </a:cxn>
              <a:cxn ang="f33">
                <a:pos x="f31" y="f26"/>
              </a:cxn>
            </a:cxnLst>
            <a:rect l="f23" t="f30" r="f37" b="f29"/>
            <a:pathLst>
              <a:path w="21600" h="21600">
                <a:moveTo>
                  <a:pt x="f7" y="f18"/>
                </a:moveTo>
                <a:lnTo>
                  <a:pt x="f19" y="f18"/>
                </a:lnTo>
                <a:lnTo>
                  <a:pt x="f19" y="f7"/>
                </a:lnTo>
                <a:lnTo>
                  <a:pt x="f8" y="f9"/>
                </a:lnTo>
                <a:lnTo>
                  <a:pt x="f19" y="f8"/>
                </a:lnTo>
                <a:lnTo>
                  <a:pt x="f19" y="f20"/>
                </a:lnTo>
                <a:lnTo>
                  <a:pt x="f7" y="f20"/>
                </a:lnTo>
                <a:close/>
              </a:path>
            </a:pathLst>
          </a:custGeom>
          <a:solidFill>
            <a:srgbClr val="18A303"/>
          </a:solidFill>
          <a:ln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0A6E99FF-54F0-4180-88E6-AF5D6EC53351}" type="slidenum">
              <a:t>25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7716" y="343128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Expérimentations :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7" name="ZoneTexte 3"/>
          <p:cNvSpPr txBox="1"/>
          <p:nvPr/>
        </p:nvSpPr>
        <p:spPr>
          <a:xfrm>
            <a:off x="185339" y="650897"/>
            <a:ext cx="5040309" cy="36933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Deux methods de test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8" name="ZoneTexte 5"/>
          <p:cNvSpPr txBox="1"/>
          <p:nvPr/>
        </p:nvSpPr>
        <p:spPr>
          <a:xfrm>
            <a:off x="185339" y="1416542"/>
            <a:ext cx="9224293" cy="32316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Entity substitution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On remplace juste une entité par une autre du même type.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Exemple : La question “Quelle est la capitale des USA ?”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 Mémoire interne : Washington D.C.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Contre-mémoire (substitution) : “London, USA’s capital”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Generation-based : 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le LLM génère une preuve complète et cohérente pour soutenir la fausse réponse.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Exemple : Créer un texte crédible disant que “London est la capitale des USA”, avec détails cohérents. 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8FA6175A-98F3-4D86-9D27-E62DE084EBAA}" type="slidenum">
              <a:t>26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7"/>
          <p:cNvSpPr txBox="1"/>
          <p:nvPr/>
        </p:nvSpPr>
        <p:spPr>
          <a:xfrm>
            <a:off x="57716" y="343128"/>
            <a:ext cx="5040309" cy="307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400" b="0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Résultats : 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7" name="Image 1" descr="Une image contenant texte, capture d’écran, diagramme, Police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43" y="803675"/>
            <a:ext cx="9342141" cy="44581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D3259AE7-76B8-4659-AB5E-1F380BD1E5D7}" type="slidenum">
              <a:t>27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2"/>
          <p:cNvSpPr txBox="1"/>
          <p:nvPr/>
        </p:nvSpPr>
        <p:spPr>
          <a:xfrm>
            <a:off x="80238" y="320616"/>
            <a:ext cx="9306927" cy="27699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Comment les LLMs réagissent face à des preuves pertinentes et non pertinentes</a:t>
            </a:r>
            <a:endParaRPr lang="fr-FR" sz="18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7" name="Image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27" y="594881"/>
            <a:ext cx="9297555" cy="4222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38436522-0998-4213-9F29-BBEE353B0F90}" type="slidenum">
              <a:t>28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1"/>
          <p:cNvSpPr txBox="1"/>
          <p:nvPr/>
        </p:nvSpPr>
        <p:spPr>
          <a:xfrm>
            <a:off x="425580" y="1942002"/>
            <a:ext cx="9231809" cy="360098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ChatGPT, 1 preuve non pertinente, sans preuves utiles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 </a:t>
            </a: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(w/o Relevant Evidence)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Mem-Ans. = 9.8% → seulement 9.8% des réponses utilisent la mémoire interne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Ctr-Ans. = - → pas de contre-mémoire disponible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Irr-Ans. = 18.2% → 18.2% des réponses sont erronées ou hors sujet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Uncertain = 72% → ChatGPT uncertain dans 72% des cas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Conclusion : ChatGPT est assez prudent et préfère souvent s’abstenir quand il n’y a que des preuves non pertinentes.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0" baseline="0">
              <a:solidFill>
                <a:srgbClr val="FF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ChatGPT, 1 preuve non pertinente, avec preuves utiles</a:t>
            </a: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 </a:t>
            </a:r>
            <a:r>
              <a:rPr lang="en-US" sz="1200" b="1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(w/ Relevant Evidence)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Mem-Ans. = 46.7% → près de la moitié des réponses correctes basées sur sa mémoire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Ctr-Ans. = 49.7% → presque autant se basent sur la contre-mémoire (fausse preuve)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Irr-Ans. = 0.9% → très peu de réponses hors sujet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Uncertain = 2.7% → quasi toutes les réponses sont choisies entre mémoire et contre-mémoire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Conclusion : Quand des preuves pertinentes sont présentes, ChatGPT se concentre sur elles, même si des preuves non pertinentes sont existe.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0" baseline="0">
              <a:solidFill>
                <a:srgbClr val="FF0000"/>
              </a:solidFill>
              <a:uFillTx/>
              <a:latin typeface="Arial"/>
              <a:ea typeface="Arial"/>
              <a:cs typeface="Arial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</p:txBody>
      </p:sp>
      <p:pic>
        <p:nvPicPr>
          <p:cNvPr id="7" name="Image 4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93" y="274127"/>
            <a:ext cx="9981114" cy="144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Paramètres d'évaluation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EA3F5720-98A2-4E59-B4C4-8A3A7641F002}" type="slidenum">
              <a:t>29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pic>
        <p:nvPicPr>
          <p:cNvPr id="6" name="Image 2" descr="Une image contenant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2" y="1117817"/>
            <a:ext cx="10003645" cy="774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" y="332475"/>
            <a:ext cx="10078763" cy="68001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ZoneTexte 1"/>
          <p:cNvSpPr txBox="1"/>
          <p:nvPr/>
        </p:nvSpPr>
        <p:spPr>
          <a:xfrm>
            <a:off x="162818" y="1957017"/>
            <a:ext cx="9119137" cy="175432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 Llama2 –7B, 1 preuve non pertinente, sans preuves utiles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(w/o Relevant Evidence)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Mem-Ans. = 6.3 %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→ seulement 6.3 % des réponses se basent sur la mémoire interne.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Ctr-Ans. = -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→ pas de contre-mémoire disponible.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Irr-Ans. = 92.4 %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→ la très grande majorité des réponses sont erronées ou hors sujet.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Uncertain = 1.4 %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→ 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Le modèle répond presque toujours.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Conclusion : </a:t>
            </a:r>
            <a:r>
              <a:rPr lang="fr-FR" sz="1200" b="1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Llama2-7B est facilement distrait par une preuve non pertinente et donne presque toujours une réponse fausse ou hors sujet.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9" name="ZoneTexte 4"/>
          <p:cNvSpPr txBox="1"/>
          <p:nvPr/>
        </p:nvSpPr>
        <p:spPr>
          <a:xfrm>
            <a:off x="260421" y="3570905"/>
            <a:ext cx="8916323" cy="15696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Llama2 –7B, 1 preuve non pertinente, avec preuves utiles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Arial"/>
              </a:rPr>
              <a:t>(w/ Relevant Evidence)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  <a:p>
            <a:pPr marL="171450" marR="0" lvl="0" indent="-1714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Mem-Ans. = 63.5 % → le modèle se base sur sa mémoire interne dans la majorité des cas.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Ctr-Ans. = 33.6 % → une part des réponses suit le contre-mémoire.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Irr-Ans. = 2.6 % → très peu de réponses hors sujet.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Uncertain = 0.3 % → 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Le modèle répond presque toujours, même lorsqu’il n’a pas assez de preuves.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1" i="0" u="none" strike="noStrike" kern="1200" cap="none" spc="0" baseline="0">
                <a:solidFill>
                  <a:srgbClr val="FF0000"/>
                </a:solidFill>
                <a:uFillTx/>
                <a:latin typeface="Arial"/>
                <a:ea typeface="Arial"/>
                <a:cs typeface="Arial"/>
              </a:rPr>
              <a:t>Conclusion : Avec des preuves pertinentes, Llama2-7B parvient à ignorer la preuve non pertinente et à répondre correctement dans la majorité des cas</a:t>
            </a:r>
            <a:endParaRPr lang="en-US" sz="1200" b="1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0"/>
          <p:cNvSpPr/>
          <p:nvPr/>
        </p:nvSpPr>
        <p:spPr>
          <a:xfrm>
            <a:off x="0" y="0"/>
            <a:ext cx="10079998" cy="179999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0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Arial"/>
                <a:cs typeface="Arial"/>
              </a:rPr>
              <a:t>Conclusion générale :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3" name="Rectangle 374"/>
          <p:cNvSpPr/>
          <p:nvPr/>
        </p:nvSpPr>
        <p:spPr>
          <a:xfrm>
            <a:off x="0" y="5431682"/>
            <a:ext cx="10079998" cy="270004"/>
          </a:xfrm>
          <a:prstGeom prst="rect">
            <a:avLst/>
          </a:prstGeom>
          <a:solidFill>
            <a:srgbClr val="4169E1"/>
          </a:solidFill>
          <a:ln w="0">
            <a:solidFill>
              <a:srgbClr val="3465A4"/>
            </a:solidFill>
            <a:prstDash val="solid"/>
          </a:ln>
        </p:spPr>
        <p:txBody>
          <a:bodyPr vert="horz" wrap="square" lIns="90004" tIns="44997" rIns="90004" bIns="44997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-1" baseline="0">
              <a:solidFill>
                <a:srgbClr val="FFFFFF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4" name="ZoneTexte 375"/>
          <p:cNvSpPr txBox="1"/>
          <p:nvPr/>
        </p:nvSpPr>
        <p:spPr>
          <a:xfrm>
            <a:off x="9539999" y="5359682"/>
            <a:ext cx="539998" cy="51695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800" b="0" i="0" u="none" strike="noStrike" kern="1200" cap="none" spc="-1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 </a:t>
            </a:r>
            <a:fld id="{B005A23C-F34C-43A6-85F0-A5966627AD07}" type="slidenum">
              <a:t>30</a:t>
            </a:fld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5" name="ZoneTexte 376"/>
          <p:cNvSpPr txBox="1"/>
          <p:nvPr/>
        </p:nvSpPr>
        <p:spPr>
          <a:xfrm>
            <a:off x="0" y="5431682"/>
            <a:ext cx="1619996" cy="26099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200" b="0" i="0" u="none" strike="noStrike" kern="1200" cap="none" spc="-1" baseline="0">
                <a:solidFill>
                  <a:srgbClr val="FFFFF0"/>
                </a:solidFill>
                <a:uFillTx/>
                <a:latin typeface="Arial"/>
                <a:ea typeface="DejaVu Sans"/>
                <a:cs typeface="DejaVu Sans"/>
              </a:rPr>
              <a:t> 13/11/2025</a:t>
            </a:r>
            <a:endParaRPr lang="fr-FR" sz="1200" b="0" i="0" u="none" strike="noStrike" kern="1200" cap="none" spc="-1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10267" y="418191"/>
            <a:ext cx="5040309" cy="64633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Conclusion générale :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30392" y="1063748"/>
            <a:ext cx="9209269" cy="267765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Les chercheurs ont créé une méthode pour tester comment les grands modèles de langage (LLMs) réagissent quand leurs connaissances internes sont contredites.</a:t>
            </a: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/>
            </a:r>
            <a:b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</a:b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DejaVu Sans"/>
                <a:cs typeface="DejaVu Sans"/>
              </a:rPr>
              <a:t>Ils ont découvert que :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DejaVu Sans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Les modèles de langage acceptent facilement une fausse information (contre-mémoire) si c’est la seule preuve présentée et qu’elle est cohérente.</a:t>
            </a: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Quand à la fois la mémoire interne et la contre-mémoire sont présentées, les LLMs montrent une forte tendance à se fier à leur propre mémoire plutôt qu’à l’information contradictoire.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Arial"/>
              <a:cs typeface="Arial"/>
            </a:endParaRPr>
          </a:p>
          <a:p>
            <a:pPr marL="228600" marR="0" lvl="0" indent="-2286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Arial"/>
                <a:ea typeface="Arial"/>
                <a:cs typeface="Arial"/>
              </a:rPr>
              <a:t>La méthode montre aussi que les LLMs peuvent produire des informations fausses mais convaincantes, ce qui représente un risque éthique potentiel.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rial"/>
              <a:ea typeface="DejaVu Sans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2672</Words>
  <Application>Microsoft Office PowerPoint</Application>
  <PresentationFormat>Widescreen</PresentationFormat>
  <Paragraphs>370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Calibri</vt:lpstr>
      <vt:lpstr>Cambria</vt:lpstr>
      <vt:lpstr>DejaVu Sans</vt:lpstr>
      <vt:lpstr>OpenSymbol</vt:lpstr>
      <vt:lpstr>Roboto</vt:lpstr>
      <vt:lpstr>Symbol</vt:lpstr>
      <vt:lpstr>Times New Roma</vt:lpstr>
      <vt:lpstr>Times New Roman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word</cp:lastModifiedBy>
  <cp:revision>609</cp:revision>
  <dcterms:created xsi:type="dcterms:W3CDTF">2025-10-23T11:49:47Z</dcterms:created>
  <dcterms:modified xsi:type="dcterms:W3CDTF">2025-11-13T13:57:28Z</dcterms:modified>
</cp:coreProperties>
</file>